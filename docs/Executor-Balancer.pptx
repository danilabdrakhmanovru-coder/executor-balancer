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4"/>
  </p:notesMasterIdLst>
  <p:sldIdLst>
    <p:sldId id="287" r:id="rId3"/>
    <p:sldId id="288" r:id="rId4"/>
    <p:sldId id="281" r:id="rId5"/>
    <p:sldId id="285" r:id="rId6"/>
    <p:sldId id="290" r:id="rId7"/>
    <p:sldId id="291" r:id="rId8"/>
    <p:sldId id="260" r:id="rId9"/>
    <p:sldId id="261" r:id="rId10"/>
    <p:sldId id="277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6" r:id="rId2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инат" initials="Р" lastIdx="2" clrIdx="0">
    <p:extLst>
      <p:ext uri="{19B8F6BF-5375-455C-9EA6-DF929625EA0E}">
        <p15:presenceInfo xmlns:p15="http://schemas.microsoft.com/office/powerpoint/2012/main" userId="2d4d720159daee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00D6"/>
    <a:srgbClr val="E8E4E4"/>
    <a:srgbClr val="422AA6"/>
    <a:srgbClr val="53369A"/>
    <a:srgbClr val="572EA2"/>
    <a:srgbClr val="5EBEB2"/>
    <a:srgbClr val="1D787D"/>
    <a:srgbClr val="488FFF"/>
    <a:srgbClr val="FEC254"/>
    <a:srgbClr val="60C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1" autoAdjust="0"/>
    <p:restoredTop sz="93728" autoAdjust="0"/>
  </p:normalViewPr>
  <p:slideViewPr>
    <p:cSldViewPr>
      <p:cViewPr varScale="1">
        <p:scale>
          <a:sx n="119" d="100"/>
          <a:sy n="119" d="100"/>
        </p:scale>
        <p:origin x="908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E5068-3BC9-446E-91BC-6AE064861DEA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233B2-6335-4293-8671-B597919E1F2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680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233B2-6335-4293-8671-B597919E1F26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01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233B2-6335-4293-8671-B597919E1F26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642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Сервис никогда не ждёт АИС: решение принимается и сохраняется сразу, а доставка идёт фоном с повторами. Заявка без подходящего исполнителя не теряется — ждёт и повторяется каждые 5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Шаги 1–6 занимают миллисекунды. Доставка в АИС (7–8) идёт отдельно: если АИС недоступна, заявки продолжают распределяться, а назначения доставятся позже.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3C204-0084-5ED7-F85F-832B1940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3971C-E784-B200-A10F-2C7290F4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2AFC7-F5AA-04AF-AD05-A3E39D747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Концептуальная модель: отдел — независимая сфера со своими параметрами, правилами и сотрудниками. Параметры — справочник, поэтому новый параметр не меняет схему базы.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D7827-2364-BB21-2A6D-9E29027FE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02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решения схемы: параметры — jsonb по справочнику; уникальный индекс на текущее назначение заявки; outbox для надёжной доставки; сводные метрики по часам в отдельных таблицах — дашборды не сканируют миллионы заявок.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вложены: администратор может всё, что руководитель, руководитель — всё, что наблюдатель. Права проверяет сервер на каждом запросе, в интерфейсе недоступные кнопки просто скрыты.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Альтернативные потоки закрывают все случаи из кейса: нет свободных, повторы из АИС, доработка, уход исполнителя, сбой посередине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выбор — один Lua-скрипт: прочитать счётчики кандидатов, выбрать лучшего и увеличить его счётчики. Пока скрипт выполняется, Redis не выполняет других команд, поэтому гонка невозможна.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Отклонение считается по сводным таблицам: фактически получил против эталона. Показывается в мониторинге и в аналитике по каждому сотруднику.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Изменение применяется на всех экземплярах сервиса за секунду: версия конфигурации лежит в Redis. Каждое изменение пишется в журнал с автором.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Объяснение сохраняется вместе с решением в той же транзакции, поэтому его можно открыть и через месяц.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графики нарисованы без сторонних библиотек (строгая CSP). Отчёты строятся по почасовым сводным таблицам, а не по сырым заявкам.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Нагрузка — tools/loadgen.py (16 потоков заявок, 8 потоков смены статусов). Гонки — scripts/check_lua.py на настоящем Redis: каждая заявка отправляется дважды из 8 потоков.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Безопасность — требование кейса к полуфиналу. Все права проверяются на сервере; интерфейс лишь скрывает недоступное.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ИИ не распределяет заявки — распределение остаётся детерминированным и объяснимым. ИИ только подсказывает руководителю, где проблема и что сделать.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64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99992" y="386000"/>
            <a:ext cx="2890664" cy="821532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67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31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08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59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81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18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2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ABD2-2C57-4164-9D35-35C60E7915BC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12C13-9DD8-40BC-BA66-D02BBA50A9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336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716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299991-E028-6CE7-1039-FFA6CD22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28F66D-7ADE-BC65-EDC7-FB7F53D34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8AA726-43CE-373A-5140-20E580C6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2E0088-8C90-F7BF-57CD-C07957CB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798522-1DFA-EBAD-568F-E07FAF08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249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63834-6C13-E0F0-C79E-7B6E4177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82A75A-4FA4-8B0B-BC8F-9DA684581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A38D77-E3E2-BB83-670B-5BF84A17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C35E84-6A78-DD02-62C4-D23F7A1C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172F7F-CC46-B6B3-7F49-68CDB4CD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357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E89EC-2DAA-4702-C3B0-44014B33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8C244A-D18E-92C4-A2DC-FEEC1038B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B86041-593C-CF66-8E51-1D1A06820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FBFC0D-8F1D-97DE-E543-7A4B5FB4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086AFF-FAFC-B282-1AD7-6DF8F1EC4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645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3F15D-0F93-2C86-066C-0A537B5F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6A1989-B067-5287-3546-007C620AB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DD3FAB-F9E5-54AB-9DCD-851F81B32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D3BC5E-729D-025B-4F9A-EF298240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F1C696-F663-158A-1EB7-2107DCD9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855673-A40A-F8FA-355F-45B0BC70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604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5AB34-4E58-998C-99A6-A1D12DDB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D78499-E5BD-6B3F-B87F-4B730AC9E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56094A-9EB4-C3AD-A111-0067868E1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2CC7DD-92E2-6495-9C71-723CE5F9F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DC2320D-D4C3-1FF3-1507-AAB7B9AF3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DDA08C0-FB37-C715-95D6-D226F3F2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9B0DC0D-68A2-BF18-DD95-2D96352F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65C217-E9C4-13E5-C4EC-1CE0E958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218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AA74B-3EA4-C9C1-0E80-3C74047BA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1355377-1F45-C74F-61D9-CE6B53CF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D86AD9-20EA-B309-CC83-ED858694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414C24-EC85-33B3-DAF6-5D0311B71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1209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5A9CF60-DA3C-58AE-399C-9FD00FDC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EBD6F0-84BB-3D62-9584-F6DB886E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42ED75-813A-03EE-AB34-68B3B2EB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770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68920-B32D-2B09-7F1C-2A9F099FC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203EA-9D8E-4660-2AE7-CB25A38D8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3DCBF7-965D-7642-80BE-ABEC173B9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3648E6-F9AF-D06C-EFE4-1F135462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7413EB-1C3E-4136-27A2-2F9FE4A3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1B833E-9361-8CBD-0927-D70E9869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71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DD920-A985-3C79-B3DF-F3C6769BC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415471-5D2E-B2E2-A268-5FB6C79C0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C41669-4CF2-4143-0F74-2DEAD0140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BF0BFD-55AC-C189-DE43-549D66DC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B04C6E-9673-EAEE-3FDD-CB32221A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045699-3DF1-E26C-4B85-D67553C9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7854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0439B-142D-5C55-FD87-139B8341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0D166D-020C-7C15-B074-4EAD2EEFF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245B5D-AD7A-E29B-C3E0-1A72391F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B9D28D-FD53-276A-C05F-50EA6167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122169-3D64-6F94-7B0A-3FD07FA6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735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37ACCB-B701-1747-2FFA-D35A486E1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45A4DA-87A0-A457-E16C-B3BCC32F1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202C5C-3180-9311-6C48-1B3D890A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0AAFA6-31EF-6A67-7D59-5D66B3D0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D38428-5651-A321-9D01-4AFECB530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2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2890664" cy="82153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dirty="0"/>
              <a:t>Образец текста</a:t>
            </a:r>
          </a:p>
          <a:p>
            <a:pPr lvl="1"/>
            <a:r>
              <a:rPr lang="ru-RU" noProof="0" dirty="0"/>
              <a:t>Второй уровень</a:t>
            </a:r>
          </a:p>
          <a:p>
            <a:pPr lvl="2"/>
            <a:r>
              <a:rPr lang="ru-RU" noProof="0" dirty="0"/>
              <a:t>Третий уровень</a:t>
            </a:r>
          </a:p>
          <a:p>
            <a:pPr lvl="3"/>
            <a:r>
              <a:rPr lang="ru-RU" noProof="0" dirty="0"/>
              <a:t>Четвертый уровень</a:t>
            </a:r>
          </a:p>
          <a:p>
            <a:pPr lvl="4"/>
            <a:r>
              <a:rPr lang="ru-RU" noProof="0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8ABD2-2C57-4164-9D35-35C60E7915BC}" type="datetimeFigureOut">
              <a:rPr lang="ru-RU" noProof="0" smtClean="0"/>
              <a:pPr/>
              <a:t>28.09.2026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12C13-9DD8-40BC-BA66-D02BBA50A9B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1477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Open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5A371-29BA-5C1B-8FEB-9B0842FA3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306ED7-324F-BD21-799B-D373942A8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E80B4E-3A76-0AC8-F294-F3DAE0E7B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3655D-0AA0-4CCD-86BD-145A646CA7F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38E731-9311-3CE3-CE2E-042B258AB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41AFD4-45B6-0B4A-7F17-CE20F1B6F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47338-2C31-4F44-BDE2-29AB515AB8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93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4910" y="1817160"/>
            <a:ext cx="4464495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dirty="0" err="1">
                <a:latin typeface="Montserrat" panose="00000500000000000000" pitchFamily="2" charset="-52"/>
              </a:rPr>
              <a:t>Executor</a:t>
            </a:r>
            <a:r>
              <a:rPr lang="ru-RU" sz="2400" dirty="0">
                <a:latin typeface="Montserrat" panose="00000500000000000000" pitchFamily="2" charset="-52"/>
              </a:rPr>
              <a:t> </a:t>
            </a:r>
            <a:r>
              <a:rPr lang="ru-RU" sz="2400" dirty="0" err="1">
                <a:latin typeface="Montserrat" panose="00000500000000000000" pitchFamily="2" charset="-52"/>
              </a:rPr>
              <a:t>Balancer</a:t>
            </a:r>
            <a:r>
              <a:rPr lang="ru-RU" sz="2400" dirty="0">
                <a:latin typeface="Montserrat" panose="00000500000000000000" pitchFamily="2" charset="-52"/>
              </a:rPr>
              <a:t>:</a:t>
            </a:r>
            <a:endParaRPr lang="en-US" sz="2400" dirty="0">
              <a:latin typeface="Montserrat" panose="00000500000000000000" pitchFamily="2" charset="-52"/>
            </a:endParaRPr>
          </a:p>
          <a:p>
            <a:pPr>
              <a:lnSpc>
                <a:spcPct val="100000"/>
              </a:lnSpc>
            </a:pPr>
            <a:r>
              <a:rPr lang="ru-RU" sz="2400" dirty="0">
                <a:latin typeface="Montserrat" panose="00000500000000000000" pitchFamily="2" charset="-52"/>
              </a:rPr>
              <a:t>многопоточная система распределения заявок в реальном времени</a:t>
            </a:r>
            <a:endParaRPr lang="ru-RU" sz="2400" dirty="0">
              <a:latin typeface="Montserrat" panose="00000500000000000000" pitchFamily="2" charset="-52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992" y="3723878"/>
            <a:ext cx="2880320" cy="1259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ru-RU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Команда </a:t>
            </a:r>
            <a:r>
              <a:rPr lang="en-US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Void</a:t>
            </a:r>
            <a:r>
              <a:rPr lang="ru-RU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endParaRPr lang="en-US" sz="1400" dirty="0">
              <a:latin typeface="Calibri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1400"/>
              </a:lnSpc>
            </a:pPr>
            <a:endParaRPr lang="en-US" sz="1400" dirty="0">
              <a:latin typeface="Calibri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1400"/>
              </a:lnSpc>
            </a:pPr>
            <a:r>
              <a:rPr lang="ru-RU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>
              <a:lnSpc>
                <a:spcPts val="1400"/>
              </a:lnSpc>
            </a:pPr>
            <a:r>
              <a:rPr lang="ru-RU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1. Абдрахманов Данил</a:t>
            </a:r>
          </a:p>
          <a:p>
            <a:pPr>
              <a:lnSpc>
                <a:spcPts val="1400"/>
              </a:lnSpc>
            </a:pPr>
            <a:r>
              <a:rPr lang="en-US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ru-RU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ru-RU" sz="1400" dirty="0" err="1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Мухтасарова</a:t>
            </a:r>
            <a:r>
              <a:rPr lang="ru-RU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 Ирина</a:t>
            </a:r>
            <a:endParaRPr lang="en-US" sz="1400" dirty="0">
              <a:latin typeface="Calibri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1400"/>
              </a:lnSpc>
            </a:pPr>
            <a:r>
              <a:rPr lang="en-US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ru-RU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. Брагин Алексей</a:t>
            </a:r>
            <a:endParaRPr lang="en-US" sz="1400" dirty="0">
              <a:latin typeface="Calibri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1400"/>
              </a:lnSpc>
            </a:pPr>
            <a:r>
              <a:rPr lang="en-US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ru-RU" sz="1400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. Исламов Эрик</a:t>
            </a:r>
            <a:endParaRPr lang="en-US" sz="1400" dirty="0">
              <a:latin typeface="Calibri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13A0E6-B52C-E353-EA5E-A4A0A5A6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1" y="357930"/>
            <a:ext cx="4320480" cy="108256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71D2F4-9DE2-142C-8167-8E01E05FD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357930"/>
            <a:ext cx="3827681" cy="4481187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A093A8A-6B63-2F1B-5422-BFDFB0EE7985}"/>
              </a:ext>
            </a:extLst>
          </p:cNvPr>
          <p:cNvCxnSpPr>
            <a:cxnSpLocks/>
          </p:cNvCxnSpPr>
          <p:nvPr/>
        </p:nvCxnSpPr>
        <p:spPr>
          <a:xfrm>
            <a:off x="244910" y="3939902"/>
            <a:ext cx="1158738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50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3037B49-9A82-AC71-3957-4BA1D8528419}"/>
              </a:ext>
            </a:extLst>
          </p:cNvPr>
          <p:cNvCxnSpPr>
            <a:cxnSpLocks/>
          </p:cNvCxnSpPr>
          <p:nvPr/>
        </p:nvCxnSpPr>
        <p:spPr>
          <a:xfrm flipH="1">
            <a:off x="323528" y="2571750"/>
            <a:ext cx="5112568" cy="0"/>
          </a:xfrm>
          <a:prstGeom prst="line">
            <a:avLst/>
          </a:prstGeom>
          <a:ln w="28575"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9815" y="452054"/>
            <a:ext cx="2592288" cy="3640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ru-RU" sz="2400" b="1" dirty="0"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Проблема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647" y="2730575"/>
            <a:ext cx="4177327" cy="14391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ts val="1600"/>
              </a:lnSpc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&gt;1000 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заявок в час</a:t>
            </a:r>
          </a:p>
          <a:p>
            <a:pPr marL="285750" indent="-285750">
              <a:lnSpc>
                <a:spcPts val="1600"/>
              </a:lnSpc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Новые параметры появляются постоянно</a:t>
            </a:r>
          </a:p>
          <a:p>
            <a:pPr marL="285750" indent="-285750">
              <a:lnSpc>
                <a:spcPts val="1600"/>
              </a:lnSpc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Сложные заявки уходят случайным людям</a:t>
            </a:r>
          </a:p>
          <a:p>
            <a:pPr marL="285750" indent="-285750">
              <a:lnSpc>
                <a:spcPts val="1600"/>
              </a:lnSpc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Одни заявки перегружены, другие - простаивают</a:t>
            </a:r>
          </a:p>
          <a:p>
            <a:pPr marL="285750" indent="-285750">
              <a:lnSpc>
                <a:spcPts val="1600"/>
              </a:lnSpc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Параллельные потоки конфликтуют</a:t>
            </a:r>
          </a:p>
          <a:p>
            <a:pPr marL="285750" indent="-285750">
              <a:lnSpc>
                <a:spcPts val="1600"/>
              </a:lnSpc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Невозможно понять, что происходит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2080" y="2499743"/>
            <a:ext cx="324036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ru-RU" sz="1400" dirty="0"/>
              <a:t>Место для фото </a:t>
            </a:r>
          </a:p>
          <a:p>
            <a:pPr algn="ctr">
              <a:lnSpc>
                <a:spcPts val="1800"/>
              </a:lnSpc>
            </a:pPr>
            <a:r>
              <a:rPr lang="ru-RU" sz="1400" dirty="0"/>
              <a:t>или иллюстрации</a:t>
            </a:r>
            <a:endParaRPr lang="ru-RU" sz="1400" dirty="0">
              <a:latin typeface="Roboto Light" pitchFamily="2" charset="0"/>
              <a:ea typeface="Roboto Light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27E3C3-3754-A6E8-9665-471B7CA73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A6211D-C506-FF1A-C910-6BA91FFA050B}"/>
              </a:ext>
            </a:extLst>
          </p:cNvPr>
          <p:cNvSpPr txBox="1"/>
          <p:nvPr/>
        </p:nvSpPr>
        <p:spPr>
          <a:xfrm>
            <a:off x="369815" y="1180202"/>
            <a:ext cx="331236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ru-RU" sz="1600" dirty="0">
                <a:latin typeface="Calibri"/>
                <a:ea typeface="Roboto" pitchFamily="2" charset="0"/>
              </a:rPr>
              <a:t>Компании ежедневно получают более тысячи заявок из разных источников. Это приводит к сложностям ручного распределения.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EC38DA7-AC83-860C-5A6B-4138A09CD33D}"/>
              </a:ext>
            </a:extLst>
          </p:cNvPr>
          <p:cNvCxnSpPr>
            <a:cxnSpLocks/>
          </p:cNvCxnSpPr>
          <p:nvPr/>
        </p:nvCxnSpPr>
        <p:spPr>
          <a:xfrm>
            <a:off x="369815" y="816128"/>
            <a:ext cx="1355903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183FA9-AC22-3FCC-2E8C-C773760A0D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6056" y="1059582"/>
            <a:ext cx="3494132" cy="3494132"/>
          </a:xfrm>
          <a:prstGeom prst="rect">
            <a:avLst/>
          </a:prstGeom>
          <a:solidFill>
            <a:srgbClr val="5300D6"/>
          </a:solidFill>
          <a:ln w="28575">
            <a:solidFill>
              <a:srgbClr val="5300D6"/>
            </a:solidFill>
          </a:ln>
          <a:effectLst>
            <a:softEdge rad="31750"/>
          </a:effectLst>
        </p:spPr>
      </p:pic>
      <p:sp>
        <p:nvSpPr>
          <p:cNvPr id="28" name="Номер слайда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8A34ACAF-B496-4A31-B29C-7A0C872B6A7F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fld>
            <a:endParaRPr lang="ru-RU" sz="750" dirty="0"/>
          </a:p>
        </p:txBody>
      </p:sp>
    </p:spTree>
    <p:extLst>
      <p:ext uri="{BB962C8B-B14F-4D97-AF65-F5344CB8AC3E}">
        <p14:creationId xmlns:p14="http://schemas.microsoft.com/office/powerpoint/2010/main" val="3309745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528" y="368249"/>
            <a:ext cx="2592288" cy="3640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ru-RU" sz="2400" b="1" noProof="0" dirty="0">
                <a:latin typeface="Calibri"/>
                <a:ea typeface="Roboto" pitchFamily="2" charset="0"/>
              </a:rPr>
              <a:t>Актуальность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77440"/>
            <a:ext cx="4114800" cy="1920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6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Наш проект:</a:t>
            </a:r>
          </a:p>
          <a:p>
            <a:pPr>
              <a:lnSpc>
                <a:spcPct val="100000"/>
              </a:lnSpc>
            </a:pPr>
            <a:endParaRPr lang="ru-RU" sz="1600" noProof="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Снижает ручной труд диспетчера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Повышает </a:t>
            </a:r>
            <a:r>
              <a:rPr lang="ru-RU" sz="1600" noProof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удовлетворённость</a:t>
            </a:r>
            <a:r>
              <a:rPr lang="ru-RU" sz="16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 клиентов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Позволяет быстро менять правила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Clr>
                <a:srgbClr val="5300D6"/>
              </a:buClr>
              <a:buFont typeface="Wingdings" panose="05000000000000000000" pitchFamily="2" charset="2"/>
              <a:buChar char="Ø"/>
            </a:pPr>
            <a:r>
              <a:rPr lang="ru-RU" sz="16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Roboto" panose="02000000000000000000" pitchFamily="2" charset="0"/>
                <a:cs typeface="Roboto" panose="02000000000000000000" pitchFamily="2" charset="0"/>
              </a:rPr>
              <a:t>Дает прозрачную аналитику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E0A29E5-730F-3B5A-17B1-97BF73C1A50F}"/>
              </a:ext>
            </a:extLst>
          </p:cNvPr>
          <p:cNvSpPr/>
          <p:nvPr/>
        </p:nvSpPr>
        <p:spPr>
          <a:xfrm>
            <a:off x="219456" y="1005840"/>
            <a:ext cx="4069080" cy="1143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097280"/>
            <a:ext cx="37947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ru-RU" sz="1600" noProof="0" dirty="0">
                <a:latin typeface="Calibri"/>
                <a:ea typeface="Roboto" pitchFamily="2" charset="0"/>
              </a:rPr>
              <a:t>Любая компания с потоком обращений сталкивается с проблемой: «кому отдать заявку?» Наш сервис поможет автоматизировать распределение задач.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B37678-B8D3-C047-3875-DFA7CE394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E23B0C-C544-8750-A439-FF11C241BDC6}"/>
              </a:ext>
            </a:extLst>
          </p:cNvPr>
          <p:cNvCxnSpPr>
            <a:cxnSpLocks/>
          </p:cNvCxnSpPr>
          <p:nvPr/>
        </p:nvCxnSpPr>
        <p:spPr>
          <a:xfrm>
            <a:off x="323528" y="732323"/>
            <a:ext cx="1787366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Номер слайда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313BF584-F520-44C0-A70F-B492E2482ED6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fld>
            <a:endParaRPr lang="ru-RU" sz="750" dirty="0"/>
          </a:p>
        </p:txBody>
      </p:sp>
    </p:spTree>
    <p:extLst>
      <p:ext uri="{BB962C8B-B14F-4D97-AF65-F5344CB8AC3E}">
        <p14:creationId xmlns:p14="http://schemas.microsoft.com/office/powerpoint/2010/main" val="184873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57309"/>
            <a:ext cx="3969525" cy="3640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ru-RU" sz="2400" b="1" dirty="0">
                <a:latin typeface="Calibri"/>
                <a:ea typeface="Roboto" pitchFamily="2" charset="0"/>
              </a:rPr>
              <a:t>План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C73DA5-7D00-141A-3D7F-179A6B1D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8904C59-C537-A449-0B34-011E11206EA7}"/>
              </a:ext>
            </a:extLst>
          </p:cNvPr>
          <p:cNvCxnSpPr>
            <a:cxnSpLocks/>
          </p:cNvCxnSpPr>
          <p:nvPr/>
        </p:nvCxnSpPr>
        <p:spPr>
          <a:xfrm>
            <a:off x="251520" y="821383"/>
            <a:ext cx="669012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D6F7B3B-715B-A2E9-1681-8B17E962D00F}"/>
              </a:ext>
            </a:extLst>
          </p:cNvPr>
          <p:cNvSpPr txBox="1"/>
          <p:nvPr/>
        </p:nvSpPr>
        <p:spPr>
          <a:xfrm>
            <a:off x="566928" y="960120"/>
            <a:ext cx="5120640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Calibri"/>
              </a:rPr>
              <a:t>Подготовка</a:t>
            </a:r>
            <a:endParaRPr lang="en-US" sz="1400" b="1" dirty="0">
              <a:latin typeface="Calibri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04BB03F-DEB4-6708-5317-4A95DA5C1454}"/>
              </a:ext>
            </a:extLst>
          </p:cNvPr>
          <p:cNvSpPr txBox="1"/>
          <p:nvPr/>
        </p:nvSpPr>
        <p:spPr>
          <a:xfrm>
            <a:off x="237744" y="969264"/>
            <a:ext cx="274320" cy="27432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ea typeface="Arial" pitchFamily="34" charset="-122"/>
                <a:cs typeface="Arial" pitchFamily="34" charset="-120"/>
              </a:rPr>
              <a:t>1</a:t>
            </a:r>
            <a:endParaRPr lang="en-US" sz="1000" dirty="0"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7D767-2C2D-CEA1-E557-3B5E1E1A7C05}"/>
              </a:ext>
            </a:extLst>
          </p:cNvPr>
          <p:cNvSpPr txBox="1"/>
          <p:nvPr/>
        </p:nvSpPr>
        <p:spPr>
          <a:xfrm>
            <a:off x="566928" y="1216152"/>
            <a:ext cx="521208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alibri"/>
              </a:rPr>
              <a:t>Согласование стека, структуры проекта. Поднятие окружения с помощью </a:t>
            </a:r>
            <a:r>
              <a:rPr lang="en-US" sz="1200" dirty="0">
                <a:latin typeface="Calibri"/>
              </a:rPr>
              <a:t>PostgreSQL, Redis </a:t>
            </a:r>
            <a:r>
              <a:rPr lang="ru-RU" sz="1200" dirty="0">
                <a:latin typeface="Calibri"/>
              </a:rPr>
              <a:t>и </a:t>
            </a:r>
            <a:r>
              <a:rPr lang="en-US" sz="1200" dirty="0">
                <a:latin typeface="Calibri"/>
              </a:rPr>
              <a:t>Docker</a:t>
            </a:r>
            <a:endParaRPr lang="ru-RU" sz="1200" dirty="0">
              <a:latin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7798A6F-8951-615D-8886-CD1F7DB738A5}"/>
              </a:ext>
            </a:extLst>
          </p:cNvPr>
          <p:cNvSpPr txBox="1"/>
          <p:nvPr/>
        </p:nvSpPr>
        <p:spPr>
          <a:xfrm>
            <a:off x="237744" y="1627632"/>
            <a:ext cx="274320" cy="27432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cs typeface="Arial" pitchFamily="34" charset="-120"/>
              </a:rPr>
              <a:t>2</a:t>
            </a:r>
            <a:endParaRPr lang="en-US" sz="1000" dirty="0"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E3898-CCC6-98B9-5983-E3386A976689}"/>
              </a:ext>
            </a:extLst>
          </p:cNvPr>
          <p:cNvSpPr txBox="1"/>
          <p:nvPr/>
        </p:nvSpPr>
        <p:spPr>
          <a:xfrm>
            <a:off x="566928" y="1618488"/>
            <a:ext cx="5120640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Calibri"/>
              </a:rPr>
              <a:t>Проектирование БД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17951-DA48-069B-0B50-8077CDC739C3}"/>
              </a:ext>
            </a:extLst>
          </p:cNvPr>
          <p:cNvSpPr txBox="1"/>
          <p:nvPr/>
        </p:nvSpPr>
        <p:spPr>
          <a:xfrm>
            <a:off x="566928" y="1874520"/>
            <a:ext cx="521208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alibri"/>
              </a:rPr>
              <a:t>Описание сущности заявок, исполнителей, правил и назначений, проектирование схемы данных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EBBFCDD-C242-05D2-74E7-3DD1C33316F3}"/>
              </a:ext>
            </a:extLst>
          </p:cNvPr>
          <p:cNvSpPr txBox="1"/>
          <p:nvPr/>
        </p:nvSpPr>
        <p:spPr>
          <a:xfrm>
            <a:off x="237744" y="2286000"/>
            <a:ext cx="274320" cy="27432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000" b="1" dirty="0">
                <a:solidFill>
                  <a:srgbClr val="FFFFFF"/>
                </a:solidFill>
                <a:latin typeface="Calibri"/>
                <a:cs typeface="Arial" pitchFamily="34" charset="-120"/>
              </a:rPr>
              <a:t>3</a:t>
            </a:r>
            <a:endParaRPr lang="en-US" sz="1000" dirty="0"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13413-F557-58D5-FC8D-6AC787E421F3}"/>
              </a:ext>
            </a:extLst>
          </p:cNvPr>
          <p:cNvSpPr txBox="1"/>
          <p:nvPr/>
        </p:nvSpPr>
        <p:spPr>
          <a:xfrm>
            <a:off x="566928" y="2276856"/>
            <a:ext cx="5120640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Calibri"/>
              </a:rPr>
              <a:t>Ядро системы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18114B-4A0E-BF16-3609-99AC981ADF4B}"/>
              </a:ext>
            </a:extLst>
          </p:cNvPr>
          <p:cNvSpPr txBox="1"/>
          <p:nvPr/>
        </p:nvSpPr>
        <p:spPr>
          <a:xfrm>
            <a:off x="566928" y="2532888"/>
            <a:ext cx="521208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alibri"/>
              </a:rPr>
              <a:t>Реализация правил, алгоритма распределения с учетом веса, лимитов, справедливости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D2601DC-0849-02DE-3B2D-03E3ADECC2F6}"/>
              </a:ext>
            </a:extLst>
          </p:cNvPr>
          <p:cNvSpPr txBox="1"/>
          <p:nvPr/>
        </p:nvSpPr>
        <p:spPr>
          <a:xfrm>
            <a:off x="237744" y="2944368"/>
            <a:ext cx="274320" cy="27432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cs typeface="Arial" pitchFamily="34" charset="-120"/>
              </a:rPr>
              <a:t>4</a:t>
            </a:r>
            <a:endParaRPr lang="en-US" sz="1000" dirty="0"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E1001A-4BD6-80B0-4502-0123B630B8AC}"/>
              </a:ext>
            </a:extLst>
          </p:cNvPr>
          <p:cNvSpPr txBox="1"/>
          <p:nvPr/>
        </p:nvSpPr>
        <p:spPr>
          <a:xfrm>
            <a:off x="566928" y="2935224"/>
            <a:ext cx="5120640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Calibri"/>
              </a:rPr>
              <a:t>Интеграция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AB4A90-D880-E2C6-21AA-466219E614E9}"/>
              </a:ext>
            </a:extLst>
          </p:cNvPr>
          <p:cNvSpPr txBox="1"/>
          <p:nvPr/>
        </p:nvSpPr>
        <p:spPr>
          <a:xfrm>
            <a:off x="566928" y="3191256"/>
            <a:ext cx="521208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alibri"/>
              </a:rPr>
              <a:t>Доставка назначений во внешнюю АИС через </a:t>
            </a:r>
            <a:r>
              <a:rPr lang="en-US" sz="1200" dirty="0">
                <a:latin typeface="Calibri"/>
              </a:rPr>
              <a:t>Outbox </a:t>
            </a:r>
            <a:r>
              <a:rPr lang="ru-RU" sz="1200" dirty="0">
                <a:latin typeface="Calibri"/>
              </a:rPr>
              <a:t>с повторными попытками</a:t>
            </a: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EFE5A9CF-CF67-4CF5-F7C3-F98CA006AE7F}"/>
              </a:ext>
            </a:extLst>
          </p:cNvPr>
          <p:cNvSpPr txBox="1"/>
          <p:nvPr/>
        </p:nvSpPr>
        <p:spPr>
          <a:xfrm>
            <a:off x="237744" y="3602736"/>
            <a:ext cx="274320" cy="27432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cs typeface="Arial" pitchFamily="34" charset="-120"/>
              </a:rPr>
              <a:t>5</a:t>
            </a:r>
            <a:endParaRPr lang="en-US" sz="1000" dirty="0"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EA82C3-E5E1-D06B-FD06-A3F7906AD9F0}"/>
              </a:ext>
            </a:extLst>
          </p:cNvPr>
          <p:cNvSpPr txBox="1"/>
          <p:nvPr/>
        </p:nvSpPr>
        <p:spPr>
          <a:xfrm>
            <a:off x="566928" y="3593592"/>
            <a:ext cx="5120640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Calibri"/>
              </a:rPr>
              <a:t>Интерфейс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2C1ACC-E688-828C-BC63-518E533279BA}"/>
              </a:ext>
            </a:extLst>
          </p:cNvPr>
          <p:cNvSpPr txBox="1"/>
          <p:nvPr/>
        </p:nvSpPr>
        <p:spPr>
          <a:xfrm>
            <a:off x="566928" y="3849624"/>
            <a:ext cx="521208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alibri"/>
              </a:rPr>
              <a:t>Сборка дашборда, конструктор правил и карточки заявок и исполнителей</a:t>
            </a: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14A91AB9-B818-D1B5-7069-4CF9F5F83085}"/>
              </a:ext>
            </a:extLst>
          </p:cNvPr>
          <p:cNvSpPr txBox="1"/>
          <p:nvPr/>
        </p:nvSpPr>
        <p:spPr>
          <a:xfrm>
            <a:off x="237744" y="4261104"/>
            <a:ext cx="274320" cy="27432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cs typeface="Arial" pitchFamily="34" charset="-120"/>
              </a:rPr>
              <a:t>6</a:t>
            </a:r>
            <a:endParaRPr lang="en-US" sz="1000" dirty="0"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E1172D-EFA4-5CF7-6ED4-1DAE4D5E15D5}"/>
              </a:ext>
            </a:extLst>
          </p:cNvPr>
          <p:cNvSpPr txBox="1"/>
          <p:nvPr/>
        </p:nvSpPr>
        <p:spPr>
          <a:xfrm>
            <a:off x="566928" y="4251960"/>
            <a:ext cx="5120640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Calibri"/>
              </a:rPr>
              <a:t>Проверка, документация и демо</a:t>
            </a:r>
          </a:p>
        </p:txBody>
      </p:sp>
      <p:sp>
        <p:nvSpPr>
          <p:cNvPr id="28" name="Номер слайда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92DCD58D-5B01-4F64-9F40-D98AE0DC044B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fld>
            <a:endParaRPr lang="ru-RU" sz="750" dirty="0"/>
          </a:p>
        </p:txBody>
      </p:sp>
    </p:spTree>
    <p:extLst>
      <p:ext uri="{BB962C8B-B14F-4D97-AF65-F5344CB8AC3E}">
        <p14:creationId xmlns:p14="http://schemas.microsoft.com/office/powerpoint/2010/main" val="48936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28821"/>
            <a:ext cx="3969525" cy="359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ru-RU" sz="2400" b="1" dirty="0">
                <a:latin typeface="Calibri"/>
                <a:ea typeface="Roboto" pitchFamily="2" charset="0"/>
              </a:rPr>
              <a:t>Ресурсы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D20435-5EED-5A38-B487-D7FC7AEB6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4D5F782-41BB-965B-39DA-66158FE8A816}"/>
              </a:ext>
            </a:extLst>
          </p:cNvPr>
          <p:cNvCxnSpPr>
            <a:cxnSpLocks/>
          </p:cNvCxnSpPr>
          <p:nvPr/>
        </p:nvCxnSpPr>
        <p:spPr>
          <a:xfrm>
            <a:off x="251520" y="787894"/>
            <a:ext cx="1093033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39E8860-00E6-6969-B79D-2E2F289F4196}"/>
              </a:ext>
            </a:extLst>
          </p:cNvPr>
          <p:cNvSpPr/>
          <p:nvPr/>
        </p:nvSpPr>
        <p:spPr>
          <a:xfrm>
            <a:off x="256032" y="1828800"/>
            <a:ext cx="3291840" cy="3840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1531D-EBC8-932D-C042-6618204D91F7}"/>
              </a:ext>
            </a:extLst>
          </p:cNvPr>
          <p:cNvSpPr txBox="1"/>
          <p:nvPr/>
        </p:nvSpPr>
        <p:spPr>
          <a:xfrm>
            <a:off x="256032" y="1097280"/>
            <a:ext cx="3931920" cy="56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Calibri"/>
              </a:rPr>
              <a:t>Для реализации проекта использовались</a:t>
            </a:r>
            <a:endParaRPr lang="en-US" dirty="0">
              <a:latin typeface="Calibri"/>
            </a:endParaRPr>
          </a:p>
          <a:p>
            <a:pPr marL="342900" indent="-342900">
              <a:buAutoNum type="arabicPeriod"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6270B-749F-8691-3471-E9DDB16F04E3}"/>
              </a:ext>
            </a:extLst>
          </p:cNvPr>
          <p:cNvSpPr txBox="1"/>
          <p:nvPr/>
        </p:nvSpPr>
        <p:spPr>
          <a:xfrm>
            <a:off x="365760" y="1856232"/>
            <a:ext cx="1280160" cy="33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C#</a:t>
            </a:r>
            <a:endParaRPr lang="ru-RU" sz="16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3B35508-7CDE-CBC4-A86E-F486744D5708}"/>
              </a:ext>
            </a:extLst>
          </p:cNvPr>
          <p:cNvSpPr/>
          <p:nvPr/>
        </p:nvSpPr>
        <p:spPr>
          <a:xfrm>
            <a:off x="256032" y="2377440"/>
            <a:ext cx="3291840" cy="3840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A50B2-F69F-FBBC-B981-00D59F4C4899}"/>
              </a:ext>
            </a:extLst>
          </p:cNvPr>
          <p:cNvSpPr txBox="1"/>
          <p:nvPr/>
        </p:nvSpPr>
        <p:spPr>
          <a:xfrm>
            <a:off x="365760" y="2404872"/>
            <a:ext cx="1280160" cy="33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PostgreSQL</a:t>
            </a:r>
            <a:endParaRPr lang="ru-RU" sz="16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BCF291-2796-22CB-273E-3CFE9AFDB837}"/>
              </a:ext>
            </a:extLst>
          </p:cNvPr>
          <p:cNvSpPr/>
          <p:nvPr/>
        </p:nvSpPr>
        <p:spPr>
          <a:xfrm>
            <a:off x="256032" y="2926080"/>
            <a:ext cx="3291840" cy="3840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C8F91F-32C1-AA98-D2BE-D8B972D44131}"/>
              </a:ext>
            </a:extLst>
          </p:cNvPr>
          <p:cNvSpPr txBox="1"/>
          <p:nvPr/>
        </p:nvSpPr>
        <p:spPr>
          <a:xfrm>
            <a:off x="365760" y="2953512"/>
            <a:ext cx="1280160" cy="33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Python</a:t>
            </a:r>
            <a:endParaRPr lang="ru-RU" sz="16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78EEEE5-790D-EC1C-702D-9B0AD387DA6B}"/>
              </a:ext>
            </a:extLst>
          </p:cNvPr>
          <p:cNvSpPr/>
          <p:nvPr/>
        </p:nvSpPr>
        <p:spPr>
          <a:xfrm>
            <a:off x="256032" y="3474720"/>
            <a:ext cx="3291840" cy="3840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3A127-073F-9D44-521E-7182B0BA9752}"/>
              </a:ext>
            </a:extLst>
          </p:cNvPr>
          <p:cNvSpPr txBox="1"/>
          <p:nvPr/>
        </p:nvSpPr>
        <p:spPr>
          <a:xfrm>
            <a:off x="365760" y="3502152"/>
            <a:ext cx="1280160" cy="33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Docker</a:t>
            </a:r>
            <a:endParaRPr lang="ru-RU" sz="16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5111006-23AF-2FC1-E21E-50ED5DBB76C3}"/>
              </a:ext>
            </a:extLst>
          </p:cNvPr>
          <p:cNvSpPr/>
          <p:nvPr/>
        </p:nvSpPr>
        <p:spPr>
          <a:xfrm>
            <a:off x="256032" y="4023360"/>
            <a:ext cx="3291840" cy="3840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403944-F756-25A0-ACBA-9A9A5655641F}"/>
              </a:ext>
            </a:extLst>
          </p:cNvPr>
          <p:cNvSpPr txBox="1"/>
          <p:nvPr/>
        </p:nvSpPr>
        <p:spPr>
          <a:xfrm>
            <a:off x="365760" y="4050792"/>
            <a:ext cx="1280160" cy="33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Draw.io</a:t>
            </a:r>
            <a:endParaRPr lang="ru-RU" sz="16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98B6BF-DDEF-D4D3-B2B5-0461EA9B69A3}"/>
              </a:ext>
            </a:extLst>
          </p:cNvPr>
          <p:cNvSpPr txBox="1"/>
          <p:nvPr/>
        </p:nvSpPr>
        <p:spPr>
          <a:xfrm>
            <a:off x="1481328" y="1874520"/>
            <a:ext cx="2011680" cy="310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Calibri"/>
              </a:rPr>
              <a:t>Язык и платформа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66256-1A95-FB69-0F42-5210127E37A2}"/>
              </a:ext>
            </a:extLst>
          </p:cNvPr>
          <p:cNvSpPr txBox="1"/>
          <p:nvPr/>
        </p:nvSpPr>
        <p:spPr>
          <a:xfrm>
            <a:off x="1481328" y="2423160"/>
            <a:ext cx="2011680" cy="310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Calibri"/>
              </a:rPr>
              <a:t>Хранение данных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A3D76B-C3F6-7EDB-A047-77E3196584A5}"/>
              </a:ext>
            </a:extLst>
          </p:cNvPr>
          <p:cNvSpPr txBox="1"/>
          <p:nvPr/>
        </p:nvSpPr>
        <p:spPr>
          <a:xfrm>
            <a:off x="1481328" y="2971800"/>
            <a:ext cx="2011680" cy="310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Calibri"/>
              </a:rPr>
              <a:t>Скрипт для нагрузки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15BF58-6E8D-4E77-1750-F1BF79463E3F}"/>
              </a:ext>
            </a:extLst>
          </p:cNvPr>
          <p:cNvSpPr txBox="1"/>
          <p:nvPr/>
        </p:nvSpPr>
        <p:spPr>
          <a:xfrm>
            <a:off x="1481328" y="3520440"/>
            <a:ext cx="2011680" cy="310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Calibri"/>
              </a:rPr>
              <a:t>Запуск всех сервисов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9BAC5E-F452-83C9-0974-602E017A649F}"/>
              </a:ext>
            </a:extLst>
          </p:cNvPr>
          <p:cNvSpPr txBox="1"/>
          <p:nvPr/>
        </p:nvSpPr>
        <p:spPr>
          <a:xfrm>
            <a:off x="1481328" y="4069080"/>
            <a:ext cx="2011680" cy="310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Calibri"/>
              </a:rPr>
              <a:t>Составление схем</a:t>
            </a:r>
          </a:p>
        </p:txBody>
      </p:sp>
      <p:pic>
        <p:nvPicPr>
          <p:cNvPr id="32" name="Рисунок 31" descr="Picture background">
            <a:extLst>
              <a:ext uri="{FF2B5EF4-FFF2-40B4-BE49-F238E27FC236}">
                <a16:creationId xmlns:a16="http://schemas.microsoft.com/office/drawing/2014/main" id="{83F675E5-9A6F-7081-6E90-6FD2DBDA3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979" y="1577766"/>
            <a:ext cx="1926410" cy="1926410"/>
          </a:xfrm>
          <a:prstGeom prst="rect">
            <a:avLst/>
          </a:prstGeom>
        </p:spPr>
      </p:pic>
      <p:pic>
        <p:nvPicPr>
          <p:cNvPr id="30" name="Рисунок 29" descr="Picture background">
            <a:extLst>
              <a:ext uri="{FF2B5EF4-FFF2-40B4-BE49-F238E27FC236}">
                <a16:creationId xmlns:a16="http://schemas.microsoft.com/office/drawing/2014/main" id="{97697A3F-4634-A7C4-B04C-649B927A2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8025" y="3224081"/>
            <a:ext cx="1653698" cy="1702207"/>
          </a:xfrm>
          <a:prstGeom prst="rect">
            <a:avLst/>
          </a:prstGeom>
        </p:spPr>
      </p:pic>
      <p:pic>
        <p:nvPicPr>
          <p:cNvPr id="29" name="Рисунок 28" descr="Picture background">
            <a:extLst>
              <a:ext uri="{FF2B5EF4-FFF2-40B4-BE49-F238E27FC236}">
                <a16:creationId xmlns:a16="http://schemas.microsoft.com/office/drawing/2014/main" id="{677E8DDA-5C11-F12D-632E-E5022D9CC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7990" y="818612"/>
            <a:ext cx="1488426" cy="1675642"/>
          </a:xfrm>
          <a:prstGeom prst="rect">
            <a:avLst/>
          </a:prstGeom>
        </p:spPr>
      </p:pic>
      <p:pic>
        <p:nvPicPr>
          <p:cNvPr id="31" name="Рисунок 30" descr="Picture background">
            <a:extLst>
              <a:ext uri="{FF2B5EF4-FFF2-40B4-BE49-F238E27FC236}">
                <a16:creationId xmlns:a16="http://schemas.microsoft.com/office/drawing/2014/main" id="{F37D4A64-7653-9F42-C951-8D7A7E69F8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8570" y="2305846"/>
            <a:ext cx="1599101" cy="1599101"/>
          </a:xfrm>
          <a:prstGeom prst="rect">
            <a:avLst/>
          </a:prstGeom>
        </p:spPr>
      </p:pic>
      <p:sp>
        <p:nvSpPr>
          <p:cNvPr id="33" name="Номер слайда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853062C6-4412-4FAD-B05C-79E396A8E231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fld>
            <a:endParaRPr lang="ru-RU" sz="750" dirty="0"/>
          </a:p>
        </p:txBody>
      </p:sp>
    </p:spTree>
    <p:extLst>
      <p:ext uri="{BB962C8B-B14F-4D97-AF65-F5344CB8AC3E}">
        <p14:creationId xmlns:p14="http://schemas.microsoft.com/office/powerpoint/2010/main" val="175719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A68173-E770-A9A6-5DDA-88B410D3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7FC91E4E-BEE4-5027-5C10-C54FF0DD8305}"/>
              </a:ext>
            </a:extLst>
          </p:cNvPr>
          <p:cNvCxnSpPr>
            <a:cxnSpLocks/>
          </p:cNvCxnSpPr>
          <p:nvPr/>
        </p:nvCxnSpPr>
        <p:spPr>
          <a:xfrm>
            <a:off x="4572000" y="2070362"/>
            <a:ext cx="2940156" cy="0"/>
          </a:xfrm>
          <a:prstGeom prst="line">
            <a:avLst/>
          </a:prstGeom>
          <a:ln w="28575"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785D8CA-C824-16AC-561F-949AD44A1A7C}"/>
              </a:ext>
            </a:extLst>
          </p:cNvPr>
          <p:cNvCxnSpPr>
            <a:cxnSpLocks/>
          </p:cNvCxnSpPr>
          <p:nvPr/>
        </p:nvCxnSpPr>
        <p:spPr>
          <a:xfrm flipH="1">
            <a:off x="4355976" y="4294617"/>
            <a:ext cx="2754487" cy="0"/>
          </a:xfrm>
          <a:prstGeom prst="line">
            <a:avLst/>
          </a:prstGeom>
          <a:ln w="28575"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CE05704-E48E-63E0-8E14-C2190FE30F56}"/>
              </a:ext>
            </a:extLst>
          </p:cNvPr>
          <p:cNvCxnSpPr>
            <a:cxnSpLocks/>
          </p:cNvCxnSpPr>
          <p:nvPr/>
        </p:nvCxnSpPr>
        <p:spPr>
          <a:xfrm>
            <a:off x="2123728" y="1031916"/>
            <a:ext cx="2808312" cy="0"/>
          </a:xfrm>
          <a:prstGeom prst="line">
            <a:avLst/>
          </a:prstGeom>
          <a:ln w="28575"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0206" y="331431"/>
            <a:ext cx="1692188" cy="3640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ru-RU" sz="2400" b="1" dirty="0">
                <a:latin typeface="Calibri"/>
                <a:ea typeface="Roboto" pitchFamily="2" charset="0"/>
              </a:rPr>
              <a:t>Команда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77FBD-29E4-4610-92E1-91D0E7603714}"/>
              </a:ext>
            </a:extLst>
          </p:cNvPr>
          <p:cNvSpPr txBox="1"/>
          <p:nvPr/>
        </p:nvSpPr>
        <p:spPr>
          <a:xfrm>
            <a:off x="3424936" y="662042"/>
            <a:ext cx="197437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ru-RU" sz="16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Брагин Алексей</a:t>
            </a:r>
          </a:p>
          <a:p>
            <a:endParaRPr lang="ru-RU" dirty="0">
              <a:latin typeface="Calibri"/>
            </a:endParaRPr>
          </a:p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6891932-FFBE-40C1-9149-7ED45D5661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5" b="13845"/>
          <a:stretch/>
        </p:blipFill>
        <p:spPr>
          <a:xfrm>
            <a:off x="350206" y="820046"/>
            <a:ext cx="1811323" cy="1967728"/>
          </a:xfrm>
          <a:prstGeom prst="rect">
            <a:avLst/>
          </a:prstGeom>
          <a:ln w="28575">
            <a:solidFill>
              <a:srgbClr val="572EA2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56DDD49-ED8A-4A3B-8F53-ACE20ACD53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1" t="33200" r="33200" b="29203"/>
          <a:stretch/>
        </p:blipFill>
        <p:spPr>
          <a:xfrm>
            <a:off x="6977036" y="708566"/>
            <a:ext cx="1746002" cy="1932616"/>
          </a:xfrm>
          <a:prstGeom prst="rect">
            <a:avLst/>
          </a:prstGeom>
          <a:ln w="28575">
            <a:solidFill>
              <a:srgbClr val="572EA2"/>
            </a:solidFill>
          </a:ln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5FAB0C2-DDBE-68FB-D902-681601D43C6D}"/>
              </a:ext>
            </a:extLst>
          </p:cNvPr>
          <p:cNvCxnSpPr>
            <a:cxnSpLocks/>
          </p:cNvCxnSpPr>
          <p:nvPr/>
        </p:nvCxnSpPr>
        <p:spPr>
          <a:xfrm>
            <a:off x="350206" y="695505"/>
            <a:ext cx="1193224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2F9FD75-F206-79B6-A02E-60C03DEC19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75" r="1217" b="7337"/>
          <a:stretch>
            <a:fillRect/>
          </a:stretch>
        </p:blipFill>
        <p:spPr>
          <a:xfrm>
            <a:off x="6881965" y="2766651"/>
            <a:ext cx="1848689" cy="2232248"/>
          </a:xfrm>
          <a:prstGeom prst="rect">
            <a:avLst/>
          </a:prstGeom>
          <a:ln w="28575">
            <a:solidFill>
              <a:srgbClr val="572EA2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A92B75-2273-D338-2206-4D5262BCC34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9" r="25281" b="43189"/>
          <a:stretch>
            <a:fillRect/>
          </a:stretch>
        </p:blipFill>
        <p:spPr>
          <a:xfrm>
            <a:off x="358516" y="2912314"/>
            <a:ext cx="1705376" cy="2088233"/>
          </a:xfrm>
          <a:prstGeom prst="rect">
            <a:avLst/>
          </a:prstGeom>
          <a:ln w="28575">
            <a:solidFill>
              <a:srgbClr val="572EA2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342ED0-2351-AB3B-F6DA-043C26C01FDF}"/>
              </a:ext>
            </a:extLst>
          </p:cNvPr>
          <p:cNvSpPr txBox="1"/>
          <p:nvPr/>
        </p:nvSpPr>
        <p:spPr>
          <a:xfrm>
            <a:off x="2161529" y="1027921"/>
            <a:ext cx="345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Calibri"/>
              </a:rPr>
              <a:t>Тимлид, тестировщик, разработчик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90EFE3-D0B7-5F17-2938-B3F7D6B610A9}"/>
              </a:ext>
            </a:extLst>
          </p:cNvPr>
          <p:cNvSpPr txBox="1"/>
          <p:nvPr/>
        </p:nvSpPr>
        <p:spPr>
          <a:xfrm>
            <a:off x="4281289" y="3959286"/>
            <a:ext cx="2025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Абдрахманов Данил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78A93B-1AE7-92F3-28D4-8DE76BEBD47A}"/>
              </a:ext>
            </a:extLst>
          </p:cNvPr>
          <p:cNvSpPr txBox="1"/>
          <p:nvPr/>
        </p:nvSpPr>
        <p:spPr>
          <a:xfrm>
            <a:off x="4135501" y="4288482"/>
            <a:ext cx="2609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/>
              </a:rPr>
              <a:t>Backend-</a:t>
            </a:r>
            <a:r>
              <a:rPr lang="ru-RU" sz="1400" dirty="0">
                <a:latin typeface="Calibri"/>
              </a:rPr>
              <a:t>разработчик, аналитик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143963-9AA2-9A19-91BB-12AE014E7030}"/>
              </a:ext>
            </a:extLst>
          </p:cNvPr>
          <p:cNvSpPr txBox="1"/>
          <p:nvPr/>
        </p:nvSpPr>
        <p:spPr>
          <a:xfrm>
            <a:off x="3477278" y="2952660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Исламов Эрик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F1E395-1875-ED4C-EC25-6CDE45197A9B}"/>
              </a:ext>
            </a:extLst>
          </p:cNvPr>
          <p:cNvSpPr txBox="1"/>
          <p:nvPr/>
        </p:nvSpPr>
        <p:spPr>
          <a:xfrm>
            <a:off x="2059771" y="3276424"/>
            <a:ext cx="294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/>
              </a:rPr>
              <a:t>DevOps, </a:t>
            </a:r>
            <a:r>
              <a:rPr lang="ru-RU" sz="1400" dirty="0">
                <a:latin typeface="Calibri"/>
              </a:rPr>
              <a:t>тестировщик, безопасность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9128EB5-69C4-16F2-8FCC-7D4A0496BB85}"/>
              </a:ext>
            </a:extLst>
          </p:cNvPr>
          <p:cNvCxnSpPr>
            <a:cxnSpLocks/>
          </p:cNvCxnSpPr>
          <p:nvPr/>
        </p:nvCxnSpPr>
        <p:spPr>
          <a:xfrm>
            <a:off x="2063892" y="3286125"/>
            <a:ext cx="2796140" cy="0"/>
          </a:xfrm>
          <a:prstGeom prst="line">
            <a:avLst/>
          </a:prstGeom>
          <a:ln w="28575"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AC86DD4-BE2B-88E9-2DEC-51CFF95C7450}"/>
              </a:ext>
            </a:extLst>
          </p:cNvPr>
          <p:cNvSpPr txBox="1"/>
          <p:nvPr/>
        </p:nvSpPr>
        <p:spPr>
          <a:xfrm>
            <a:off x="4472297" y="1717966"/>
            <a:ext cx="1965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 err="1">
                <a:solidFill>
                  <a:schemeClr val="accent4">
                    <a:lumMod val="75000"/>
                  </a:schemeClr>
                </a:solidFill>
                <a:latin typeface="Calibri"/>
              </a:rPr>
              <a:t>Мухтасарова</a:t>
            </a:r>
            <a:r>
              <a:rPr lang="ru-RU" sz="16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 Ирина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6A1E97-7865-3CEC-93C8-1DB49B60E84D}"/>
              </a:ext>
            </a:extLst>
          </p:cNvPr>
          <p:cNvSpPr txBox="1"/>
          <p:nvPr/>
        </p:nvSpPr>
        <p:spPr>
          <a:xfrm>
            <a:off x="4335137" y="2069072"/>
            <a:ext cx="2521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/>
              </a:rPr>
              <a:t>UI/UX-</a:t>
            </a:r>
            <a:r>
              <a:rPr lang="ru-RU" sz="1400" dirty="0">
                <a:latin typeface="Calibri"/>
              </a:rPr>
              <a:t>часть проекта, аналитик</a:t>
            </a:r>
          </a:p>
        </p:txBody>
      </p:sp>
      <p:sp>
        <p:nvSpPr>
          <p:cNvPr id="37" name="Номер слайда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D02E731D-B217-4984-A173-186126135206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fld>
            <a:endParaRPr lang="ru-RU" sz="750" dirty="0"/>
          </a:p>
        </p:txBody>
      </p:sp>
    </p:spTree>
    <p:extLst>
      <p:ext uri="{BB962C8B-B14F-4D97-AF65-F5344CB8AC3E}">
        <p14:creationId xmlns:p14="http://schemas.microsoft.com/office/powerpoint/2010/main" val="104577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196D49AE-9362-2331-EF50-5C5F3AA92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308609" y="253746"/>
            <a:ext cx="840105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BPMN: распределение заявки</a:t>
            </a:r>
            <a:endParaRPr lang="en-US" sz="2400" dirty="0">
              <a:latin typeface="Calibri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E8C0C530-2E66-4A15-A2D1-0C9D5F283CD2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fld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08609" y="968525"/>
            <a:ext cx="8538210" cy="387477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" name="Shape 4"/>
          <p:cNvSpPr/>
          <p:nvPr/>
        </p:nvSpPr>
        <p:spPr>
          <a:xfrm>
            <a:off x="308609" y="968525"/>
            <a:ext cx="240030" cy="387477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7" name="Text 5"/>
          <p:cNvSpPr txBox="1"/>
          <p:nvPr/>
        </p:nvSpPr>
        <p:spPr>
          <a:xfrm rot="16200000">
            <a:off x="-1508761" y="2785895"/>
            <a:ext cx="387477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заявки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548639" y="968525"/>
            <a:ext cx="240030" cy="106299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9" name="Text 7"/>
          <p:cNvSpPr txBox="1"/>
          <p:nvPr/>
        </p:nvSpPr>
        <p:spPr>
          <a:xfrm rot="16200000">
            <a:off x="137159" y="1380005"/>
            <a:ext cx="10629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</a:t>
            </a:r>
            <a:endParaRPr lang="en-US" sz="788" dirty="0"/>
          </a:p>
        </p:txBody>
      </p:sp>
      <p:sp>
        <p:nvSpPr>
          <p:cNvPr id="10" name="Shape 8"/>
          <p:cNvSpPr/>
          <p:nvPr/>
        </p:nvSpPr>
        <p:spPr>
          <a:xfrm>
            <a:off x="548639" y="2031515"/>
            <a:ext cx="240030" cy="174879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1" name="Text 9"/>
          <p:cNvSpPr txBox="1"/>
          <p:nvPr/>
        </p:nvSpPr>
        <p:spPr>
          <a:xfrm rot="16200000">
            <a:off x="-205741" y="2785895"/>
            <a:ext cx="17487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Балансировщик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548639" y="2031515"/>
            <a:ext cx="8298180" cy="686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3" name="Shape 11"/>
          <p:cNvSpPr/>
          <p:nvPr/>
        </p:nvSpPr>
        <p:spPr>
          <a:xfrm>
            <a:off x="548639" y="3780305"/>
            <a:ext cx="240030" cy="106299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4" name="Text 12"/>
          <p:cNvSpPr txBox="1"/>
          <p:nvPr/>
        </p:nvSpPr>
        <p:spPr>
          <a:xfrm rot="16200000">
            <a:off x="137159" y="4191785"/>
            <a:ext cx="10629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548639" y="3780305"/>
            <a:ext cx="8298180" cy="686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6" name="Shape 14"/>
          <p:cNvSpPr/>
          <p:nvPr/>
        </p:nvSpPr>
        <p:spPr>
          <a:xfrm>
            <a:off x="912113" y="1331999"/>
            <a:ext cx="301752" cy="3017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7" name="Text 15"/>
          <p:cNvSpPr txBox="1"/>
          <p:nvPr/>
        </p:nvSpPr>
        <p:spPr>
          <a:xfrm>
            <a:off x="754379" y="1661183"/>
            <a:ext cx="617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38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поступила</a:t>
            </a:r>
            <a:endParaRPr lang="en-US" sz="638" dirty="0"/>
          </a:p>
        </p:txBody>
      </p:sp>
      <p:sp>
        <p:nvSpPr>
          <p:cNvPr id="18" name="Text 16"/>
          <p:cNvSpPr txBox="1"/>
          <p:nvPr/>
        </p:nvSpPr>
        <p:spPr>
          <a:xfrm>
            <a:off x="1405889" y="1215413"/>
            <a:ext cx="1028700" cy="534924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Передать заявку в балансировщик</a:t>
            </a:r>
            <a:endParaRPr lang="en-US" sz="713" dirty="0"/>
          </a:p>
        </p:txBody>
      </p:sp>
      <p:sp>
        <p:nvSpPr>
          <p:cNvPr id="19" name="Shape 17"/>
          <p:cNvSpPr/>
          <p:nvPr/>
        </p:nvSpPr>
        <p:spPr>
          <a:xfrm>
            <a:off x="1213865" y="1482875"/>
            <a:ext cx="192024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0" name="Text 18"/>
          <p:cNvSpPr txBox="1"/>
          <p:nvPr/>
        </p:nvSpPr>
        <p:spPr>
          <a:xfrm>
            <a:off x="1405889" y="2518433"/>
            <a:ext cx="1028700" cy="534924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Принять и проверить параметры</a:t>
            </a:r>
            <a:endParaRPr lang="en-US" sz="713" dirty="0"/>
          </a:p>
        </p:txBody>
      </p:sp>
      <p:sp>
        <p:nvSpPr>
          <p:cNvPr id="21" name="Shape 19"/>
          <p:cNvSpPr/>
          <p:nvPr/>
        </p:nvSpPr>
        <p:spPr>
          <a:xfrm>
            <a:off x="1920239" y="1750337"/>
            <a:ext cx="686" cy="76809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2" name="Text 20"/>
          <p:cNvSpPr txBox="1"/>
          <p:nvPr/>
        </p:nvSpPr>
        <p:spPr>
          <a:xfrm>
            <a:off x="2640329" y="2518433"/>
            <a:ext cx="1028700" cy="534924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Отобрать активных по правилам отдела</a:t>
            </a:r>
            <a:endParaRPr lang="en-US" sz="713" dirty="0"/>
          </a:p>
        </p:txBody>
      </p:sp>
      <p:sp>
        <p:nvSpPr>
          <p:cNvPr id="23" name="Shape 21"/>
          <p:cNvSpPr/>
          <p:nvPr/>
        </p:nvSpPr>
        <p:spPr>
          <a:xfrm>
            <a:off x="2434589" y="2785895"/>
            <a:ext cx="20574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4" name="Shape 22"/>
          <p:cNvSpPr/>
          <p:nvPr/>
        </p:nvSpPr>
        <p:spPr>
          <a:xfrm>
            <a:off x="3861053" y="2566439"/>
            <a:ext cx="438912" cy="43891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5" name="Text 23"/>
          <p:cNvSpPr txBox="1"/>
          <p:nvPr/>
        </p:nvSpPr>
        <p:spPr>
          <a:xfrm>
            <a:off x="3861053" y="256643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63289" y="2333267"/>
            <a:ext cx="1234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38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подходящие?</a:t>
            </a:r>
            <a:endParaRPr lang="en-US" sz="638" dirty="0"/>
          </a:p>
        </p:txBody>
      </p:sp>
      <p:sp>
        <p:nvSpPr>
          <p:cNvPr id="27" name="Shape 25"/>
          <p:cNvSpPr/>
          <p:nvPr/>
        </p:nvSpPr>
        <p:spPr>
          <a:xfrm>
            <a:off x="3669029" y="2785895"/>
            <a:ext cx="192024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8" name="Text 26"/>
          <p:cNvSpPr txBox="1"/>
          <p:nvPr/>
        </p:nvSpPr>
        <p:spPr>
          <a:xfrm>
            <a:off x="3566159" y="3265955"/>
            <a:ext cx="1028700" cy="41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Ждать: повтор каждые 5 с</a:t>
            </a:r>
            <a:endParaRPr lang="en-US" sz="713" dirty="0"/>
          </a:p>
        </p:txBody>
      </p:sp>
      <p:sp>
        <p:nvSpPr>
          <p:cNvPr id="29" name="Shape 27"/>
          <p:cNvSpPr/>
          <p:nvPr/>
        </p:nvSpPr>
        <p:spPr>
          <a:xfrm>
            <a:off x="4080509" y="3005351"/>
            <a:ext cx="686" cy="260604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0" name="Text 28"/>
          <p:cNvSpPr txBox="1"/>
          <p:nvPr/>
        </p:nvSpPr>
        <p:spPr>
          <a:xfrm>
            <a:off x="4128515" y="3025925"/>
            <a:ext cx="274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638" dirty="0"/>
          </a:p>
        </p:txBody>
      </p:sp>
      <p:sp>
        <p:nvSpPr>
          <p:cNvPr id="31" name="Shape 29"/>
          <p:cNvSpPr/>
          <p:nvPr/>
        </p:nvSpPr>
        <p:spPr>
          <a:xfrm flipH="1">
            <a:off x="3154679" y="3471695"/>
            <a:ext cx="41148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2" name="Shape 30"/>
          <p:cNvSpPr/>
          <p:nvPr/>
        </p:nvSpPr>
        <p:spPr>
          <a:xfrm flipV="1">
            <a:off x="3154679" y="3053357"/>
            <a:ext cx="686" cy="418338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3" name="Text 31"/>
          <p:cNvSpPr txBox="1"/>
          <p:nvPr/>
        </p:nvSpPr>
        <p:spPr>
          <a:xfrm>
            <a:off x="4629149" y="2518433"/>
            <a:ext cx="1028700" cy="534924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 выбрать исполнителя (Redis, Lua)</a:t>
            </a:r>
            <a:endParaRPr lang="en-US" sz="713" dirty="0"/>
          </a:p>
        </p:txBody>
      </p:sp>
      <p:sp>
        <p:nvSpPr>
          <p:cNvPr id="34" name="Shape 32"/>
          <p:cNvSpPr/>
          <p:nvPr/>
        </p:nvSpPr>
        <p:spPr>
          <a:xfrm>
            <a:off x="4299965" y="2785895"/>
            <a:ext cx="329184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5" name="Text 33"/>
          <p:cNvSpPr txBox="1"/>
          <p:nvPr/>
        </p:nvSpPr>
        <p:spPr>
          <a:xfrm>
            <a:off x="4334255" y="2600729"/>
            <a:ext cx="274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638" dirty="0"/>
          </a:p>
        </p:txBody>
      </p:sp>
      <p:sp>
        <p:nvSpPr>
          <p:cNvPr id="36" name="Text 34"/>
          <p:cNvSpPr txBox="1"/>
          <p:nvPr/>
        </p:nvSpPr>
        <p:spPr>
          <a:xfrm>
            <a:off x="5897879" y="2518433"/>
            <a:ext cx="1200150" cy="534924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решение, объяснение и outbox одной транзакцией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5657849" y="2785895"/>
            <a:ext cx="24003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8" name="Text 36"/>
          <p:cNvSpPr txBox="1"/>
          <p:nvPr/>
        </p:nvSpPr>
        <p:spPr>
          <a:xfrm>
            <a:off x="6686549" y="1215413"/>
            <a:ext cx="1028700" cy="534924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назначение (через 2–10 с)</a:t>
            </a:r>
            <a:endParaRPr lang="en-US" sz="713" dirty="0"/>
          </a:p>
        </p:txBody>
      </p:sp>
      <p:sp>
        <p:nvSpPr>
          <p:cNvPr id="39" name="Shape 37"/>
          <p:cNvSpPr/>
          <p:nvPr/>
        </p:nvSpPr>
        <p:spPr>
          <a:xfrm flipV="1">
            <a:off x="6494525" y="1482875"/>
            <a:ext cx="686" cy="1035558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0" name="Shape 38"/>
          <p:cNvSpPr/>
          <p:nvPr/>
        </p:nvSpPr>
        <p:spPr>
          <a:xfrm>
            <a:off x="6494525" y="1482875"/>
            <a:ext cx="192024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1" name="Text 39"/>
          <p:cNvSpPr txBox="1"/>
          <p:nvPr/>
        </p:nvSpPr>
        <p:spPr>
          <a:xfrm>
            <a:off x="5554979" y="1791485"/>
            <a:ext cx="891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ru-RU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</a:t>
            </a:r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повторами</a:t>
            </a:r>
            <a:endParaRPr lang="en-US" sz="638" dirty="0"/>
          </a:p>
        </p:txBody>
      </p:sp>
      <p:sp>
        <p:nvSpPr>
          <p:cNvPr id="42" name="Text 40"/>
          <p:cNvSpPr txBox="1"/>
          <p:nvPr/>
        </p:nvSpPr>
        <p:spPr>
          <a:xfrm>
            <a:off x="6686549" y="4054625"/>
            <a:ext cx="1028700" cy="534924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Обработать заявку</a:t>
            </a:r>
            <a:endParaRPr lang="en-US" sz="713" dirty="0"/>
          </a:p>
        </p:txBody>
      </p:sp>
      <p:sp>
        <p:nvSpPr>
          <p:cNvPr id="43" name="Shape 41"/>
          <p:cNvSpPr/>
          <p:nvPr/>
        </p:nvSpPr>
        <p:spPr>
          <a:xfrm>
            <a:off x="7200899" y="1750337"/>
            <a:ext cx="686" cy="2304288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4" name="Shape 42"/>
          <p:cNvSpPr/>
          <p:nvPr/>
        </p:nvSpPr>
        <p:spPr>
          <a:xfrm>
            <a:off x="7975853" y="4102631"/>
            <a:ext cx="438912" cy="43891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5" name="Text 43"/>
          <p:cNvSpPr txBox="1"/>
          <p:nvPr/>
        </p:nvSpPr>
        <p:spPr>
          <a:xfrm>
            <a:off x="7975853" y="410263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7200899" y="3944897"/>
            <a:ext cx="754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638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</a:t>
            </a:r>
            <a:r>
              <a:rPr lang="ru-RU" sz="638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638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ru-RU" sz="638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638" dirty="0"/>
          </a:p>
        </p:txBody>
      </p:sp>
      <p:sp>
        <p:nvSpPr>
          <p:cNvPr id="47" name="Shape 45"/>
          <p:cNvSpPr/>
          <p:nvPr/>
        </p:nvSpPr>
        <p:spPr>
          <a:xfrm>
            <a:off x="7715249" y="4322087"/>
            <a:ext cx="260604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8" name="Shape 46"/>
          <p:cNvSpPr/>
          <p:nvPr/>
        </p:nvSpPr>
        <p:spPr>
          <a:xfrm>
            <a:off x="8044433" y="1331999"/>
            <a:ext cx="301752" cy="30175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9" name="Text 47"/>
          <p:cNvSpPr txBox="1"/>
          <p:nvPr/>
        </p:nvSpPr>
        <p:spPr>
          <a:xfrm>
            <a:off x="8373617" y="1345715"/>
            <a:ext cx="445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закрыта</a:t>
            </a:r>
            <a:endParaRPr lang="en-US" sz="638" dirty="0"/>
          </a:p>
        </p:txBody>
      </p:sp>
      <p:sp>
        <p:nvSpPr>
          <p:cNvPr id="50" name="Shape 48"/>
          <p:cNvSpPr/>
          <p:nvPr/>
        </p:nvSpPr>
        <p:spPr>
          <a:xfrm flipV="1">
            <a:off x="8195309" y="1633751"/>
            <a:ext cx="686" cy="246888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51" name="Text 49"/>
          <p:cNvSpPr txBox="1"/>
          <p:nvPr/>
        </p:nvSpPr>
        <p:spPr>
          <a:xfrm>
            <a:off x="8229599" y="3300245"/>
            <a:ext cx="582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638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ешено</a:t>
            </a:r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отклонено</a:t>
            </a:r>
            <a:endParaRPr lang="en-US" sz="638" dirty="0"/>
          </a:p>
        </p:txBody>
      </p:sp>
      <p:sp>
        <p:nvSpPr>
          <p:cNvPr id="52" name="Shape 50"/>
          <p:cNvSpPr/>
          <p:nvPr/>
        </p:nvSpPr>
        <p:spPr>
          <a:xfrm>
            <a:off x="8414765" y="4322087"/>
            <a:ext cx="226314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3" name="Shape 51"/>
          <p:cNvSpPr/>
          <p:nvPr/>
        </p:nvSpPr>
        <p:spPr>
          <a:xfrm>
            <a:off x="8641079" y="4322087"/>
            <a:ext cx="686" cy="363474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4" name="Shape 52"/>
          <p:cNvSpPr/>
          <p:nvPr/>
        </p:nvSpPr>
        <p:spPr>
          <a:xfrm flipH="1">
            <a:off x="5143499" y="4685561"/>
            <a:ext cx="349758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5" name="Shape 53"/>
          <p:cNvSpPr/>
          <p:nvPr/>
        </p:nvSpPr>
        <p:spPr>
          <a:xfrm flipV="1">
            <a:off x="5143499" y="3053357"/>
            <a:ext cx="686" cy="1632204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56" name="Text 54"/>
          <p:cNvSpPr txBox="1"/>
          <p:nvPr/>
        </p:nvSpPr>
        <p:spPr>
          <a:xfrm>
            <a:off x="5212079" y="4685561"/>
            <a:ext cx="30175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доработку: </a:t>
            </a:r>
            <a:r>
              <a:rPr lang="en-US" sz="638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вернулась</a:t>
            </a:r>
            <a:r>
              <a:rPr lang="ru-RU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то есть</a:t>
            </a:r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прежний исполнитель в приоритете</a:t>
            </a:r>
            <a:endParaRPr lang="en-US" sz="638" dirty="0"/>
          </a:p>
        </p:txBody>
      </p: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632A22C9-94A3-A69B-B597-5285FEA147A3}"/>
              </a:ext>
            </a:extLst>
          </p:cNvPr>
          <p:cNvCxnSpPr>
            <a:cxnSpLocks/>
          </p:cNvCxnSpPr>
          <p:nvPr/>
        </p:nvCxnSpPr>
        <p:spPr>
          <a:xfrm>
            <a:off x="308609" y="627534"/>
            <a:ext cx="3969444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5952FC65-28EF-2154-52F9-8D358AF9A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412656" y="349780"/>
            <a:ext cx="7589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Sequence-</a:t>
            </a:r>
            <a:r>
              <a:rPr lang="ru-RU" sz="2400" b="1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диаграмма</a:t>
            </a:r>
            <a:r>
              <a:rPr lang="en-US" sz="2400" b="1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: заявка от приёма до закрытия</a:t>
            </a:r>
            <a:endParaRPr lang="en-US" sz="2400" dirty="0">
              <a:latin typeface="Calibri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C35A01EA-5291-4B2F-B2E6-F5F399E57762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fld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2656" y="987574"/>
            <a:ext cx="1303020" cy="342900"/>
          </a:xfrm>
          <a:prstGeom prst="roundRect">
            <a:avLst>
              <a:gd name="adj" fmla="val 16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88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</a:t>
            </a:r>
            <a:endParaRPr lang="en-US" sz="788" dirty="0"/>
          </a:p>
        </p:txBody>
      </p:sp>
      <p:sp>
        <p:nvSpPr>
          <p:cNvPr id="6" name="Shape 4"/>
          <p:cNvSpPr/>
          <p:nvPr/>
        </p:nvSpPr>
        <p:spPr>
          <a:xfrm>
            <a:off x="1064166" y="1330474"/>
            <a:ext cx="686" cy="360045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  <p:txBody>
          <a:bodyPr/>
          <a:lstStyle/>
          <a:p>
            <a:endParaRPr lang="ru-RU" sz="1350"/>
          </a:p>
        </p:txBody>
      </p:sp>
      <p:sp>
        <p:nvSpPr>
          <p:cNvPr id="7" name="Text 5"/>
          <p:cNvSpPr txBox="1"/>
          <p:nvPr/>
        </p:nvSpPr>
        <p:spPr>
          <a:xfrm>
            <a:off x="2195736" y="987574"/>
            <a:ext cx="1303020" cy="342900"/>
          </a:xfrm>
          <a:prstGeom prst="roundRect">
            <a:avLst>
              <a:gd name="adj" fmla="val 16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88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балансировщика</a:t>
            </a:r>
            <a:endParaRPr lang="en-US" sz="788" dirty="0"/>
          </a:p>
        </p:txBody>
      </p:sp>
      <p:sp>
        <p:nvSpPr>
          <p:cNvPr id="8" name="Shape 6"/>
          <p:cNvSpPr/>
          <p:nvPr/>
        </p:nvSpPr>
        <p:spPr>
          <a:xfrm>
            <a:off x="2847246" y="1330474"/>
            <a:ext cx="686" cy="360045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  <p:txBody>
          <a:bodyPr/>
          <a:lstStyle/>
          <a:p>
            <a:endParaRPr lang="ru-RU" sz="1350"/>
          </a:p>
        </p:txBody>
      </p:sp>
      <p:sp>
        <p:nvSpPr>
          <p:cNvPr id="9" name="Text 7"/>
          <p:cNvSpPr txBox="1"/>
          <p:nvPr/>
        </p:nvSpPr>
        <p:spPr>
          <a:xfrm>
            <a:off x="3910236" y="987574"/>
            <a:ext cx="1303020" cy="342900"/>
          </a:xfrm>
          <a:prstGeom prst="roundRect">
            <a:avLst>
              <a:gd name="adj" fmla="val 16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88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(Lua)</a:t>
            </a:r>
            <a:endParaRPr lang="en-US" sz="788" dirty="0"/>
          </a:p>
        </p:txBody>
      </p:sp>
      <p:sp>
        <p:nvSpPr>
          <p:cNvPr id="10" name="Shape 8"/>
          <p:cNvSpPr/>
          <p:nvPr/>
        </p:nvSpPr>
        <p:spPr>
          <a:xfrm>
            <a:off x="4561746" y="1330474"/>
            <a:ext cx="686" cy="360045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  <p:txBody>
          <a:bodyPr/>
          <a:lstStyle/>
          <a:p>
            <a:endParaRPr lang="ru-RU" sz="1350"/>
          </a:p>
        </p:txBody>
      </p:sp>
      <p:sp>
        <p:nvSpPr>
          <p:cNvPr id="11" name="Text 9"/>
          <p:cNvSpPr txBox="1"/>
          <p:nvPr/>
        </p:nvSpPr>
        <p:spPr>
          <a:xfrm>
            <a:off x="5556156" y="987574"/>
            <a:ext cx="1303020" cy="342900"/>
          </a:xfrm>
          <a:prstGeom prst="roundRect">
            <a:avLst>
              <a:gd name="adj" fmla="val 16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88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6207666" y="1330474"/>
            <a:ext cx="686" cy="360045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  <p:txBody>
          <a:bodyPr/>
          <a:lstStyle/>
          <a:p>
            <a:endParaRPr lang="ru-RU" sz="1350"/>
          </a:p>
        </p:txBody>
      </p:sp>
      <p:sp>
        <p:nvSpPr>
          <p:cNvPr id="13" name="Text 11"/>
          <p:cNvSpPr txBox="1"/>
          <p:nvPr/>
        </p:nvSpPr>
        <p:spPr>
          <a:xfrm>
            <a:off x="7296711" y="960233"/>
            <a:ext cx="1303020" cy="342900"/>
          </a:xfrm>
          <a:prstGeom prst="roundRect">
            <a:avLst>
              <a:gd name="adj" fmla="val 16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788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Фоновая доставка (outbox)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7990746" y="1330474"/>
            <a:ext cx="686" cy="360045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  <p:txBody>
          <a:bodyPr/>
          <a:lstStyle/>
          <a:p>
            <a:endParaRPr lang="ru-RU" sz="1350"/>
          </a:p>
        </p:txBody>
      </p:sp>
      <p:sp>
        <p:nvSpPr>
          <p:cNvPr id="15" name="Shape 13"/>
          <p:cNvSpPr/>
          <p:nvPr/>
        </p:nvSpPr>
        <p:spPr>
          <a:xfrm>
            <a:off x="1064166" y="1570504"/>
            <a:ext cx="178308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6" name="Text 14"/>
          <p:cNvSpPr txBox="1"/>
          <p:nvPr/>
        </p:nvSpPr>
        <p:spPr>
          <a:xfrm>
            <a:off x="789846" y="1405912"/>
            <a:ext cx="2331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/orders — заявка и параметры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2847246" y="1858540"/>
            <a:ext cx="24003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8" name="Shape 16"/>
          <p:cNvSpPr/>
          <p:nvPr/>
        </p:nvSpPr>
        <p:spPr>
          <a:xfrm>
            <a:off x="3087276" y="1858540"/>
            <a:ext cx="686" cy="13716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9" name="Shape 17"/>
          <p:cNvSpPr/>
          <p:nvPr/>
        </p:nvSpPr>
        <p:spPr>
          <a:xfrm flipH="1">
            <a:off x="2847246" y="1995700"/>
            <a:ext cx="24003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0" name="Text 18"/>
          <p:cNvSpPr txBox="1"/>
          <p:nvPr/>
        </p:nvSpPr>
        <p:spPr>
          <a:xfrm>
            <a:off x="3135282" y="1844824"/>
            <a:ext cx="22631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параметры по справочнику, отбор по правилам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2847246" y="2242588"/>
            <a:ext cx="171450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2" name="Text 20"/>
          <p:cNvSpPr txBox="1"/>
          <p:nvPr/>
        </p:nvSpPr>
        <p:spPr>
          <a:xfrm>
            <a:off x="2538636" y="2077996"/>
            <a:ext cx="2331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выбрать лучшего и увеличить счётчики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 flipH="1">
            <a:off x="2847246" y="2530624"/>
            <a:ext cx="171450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dash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4" name="Text 22"/>
          <p:cNvSpPr txBox="1"/>
          <p:nvPr/>
        </p:nvSpPr>
        <p:spPr>
          <a:xfrm>
            <a:off x="2538636" y="2366032"/>
            <a:ext cx="2331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исполнитель + отчёт по кандидатам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2847246" y="2818660"/>
            <a:ext cx="336042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6" name="Text 24"/>
          <p:cNvSpPr txBox="1"/>
          <p:nvPr/>
        </p:nvSpPr>
        <p:spPr>
          <a:xfrm>
            <a:off x="2915826" y="2654068"/>
            <a:ext cx="32232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одна транзакция: назначение, объяснение, outbox, метрики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 flipH="1">
            <a:off x="1064166" y="3106696"/>
            <a:ext cx="178308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dash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8" name="Text 26"/>
          <p:cNvSpPr txBox="1"/>
          <p:nvPr/>
        </p:nvSpPr>
        <p:spPr>
          <a:xfrm>
            <a:off x="789846" y="2942104"/>
            <a:ext cx="2331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200 OK: исполнитель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 flipH="1">
            <a:off x="6207666" y="3449596"/>
            <a:ext cx="178308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0" name="Text 28"/>
          <p:cNvSpPr txBox="1"/>
          <p:nvPr/>
        </p:nvSpPr>
        <p:spPr>
          <a:xfrm>
            <a:off x="5933346" y="3285004"/>
            <a:ext cx="2331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забрать пачку (FOR UPDATE SKIP LOCKED)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 flipH="1">
            <a:off x="1064166" y="3737632"/>
            <a:ext cx="692658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2" name="Text 30"/>
          <p:cNvSpPr txBox="1"/>
          <p:nvPr/>
        </p:nvSpPr>
        <p:spPr>
          <a:xfrm>
            <a:off x="1132746" y="3573040"/>
            <a:ext cx="67894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POST /assignments — назначение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1064166" y="3984520"/>
            <a:ext cx="24003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4" name="Shape 32"/>
          <p:cNvSpPr/>
          <p:nvPr/>
        </p:nvSpPr>
        <p:spPr>
          <a:xfrm>
            <a:off x="1304196" y="3984520"/>
            <a:ext cx="686" cy="13716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5" name="Shape 33"/>
          <p:cNvSpPr/>
          <p:nvPr/>
        </p:nvSpPr>
        <p:spPr>
          <a:xfrm flipH="1">
            <a:off x="1064166" y="4121680"/>
            <a:ext cx="24003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6" name="Text 34"/>
          <p:cNvSpPr txBox="1"/>
          <p:nvPr/>
        </p:nvSpPr>
        <p:spPr>
          <a:xfrm>
            <a:off x="1352202" y="3970804"/>
            <a:ext cx="22631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запись в своей базе через 2–10 с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1064166" y="4368568"/>
            <a:ext cx="178308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8" name="Text 36"/>
          <p:cNvSpPr txBox="1"/>
          <p:nvPr/>
        </p:nvSpPr>
        <p:spPr>
          <a:xfrm>
            <a:off x="789846" y="4203976"/>
            <a:ext cx="2331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POST /orders/{id}/status — решено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2847246" y="4656604"/>
            <a:ext cx="171450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0" name="Text 38"/>
          <p:cNvSpPr txBox="1"/>
          <p:nvPr/>
        </p:nvSpPr>
        <p:spPr>
          <a:xfrm>
            <a:off x="2538636" y="4492012"/>
            <a:ext cx="2331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снять нагрузку с исполнителя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2847246" y="4944640"/>
            <a:ext cx="3360420" cy="686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2" name="Text 40"/>
          <p:cNvSpPr txBox="1"/>
          <p:nvPr/>
        </p:nvSpPr>
        <p:spPr>
          <a:xfrm>
            <a:off x="2915826" y="4780048"/>
            <a:ext cx="32232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статус, балл, метрики — одной транзакцией</a:t>
            </a:r>
            <a:endParaRPr lang="en-US" sz="675" dirty="0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3AEDB773-C46E-8C7C-16D6-3DAA12F81900}"/>
              </a:ext>
            </a:extLst>
          </p:cNvPr>
          <p:cNvCxnSpPr>
            <a:cxnSpLocks/>
          </p:cNvCxnSpPr>
          <p:nvPr/>
        </p:nvCxnSpPr>
        <p:spPr>
          <a:xfrm>
            <a:off x="412656" y="699542"/>
            <a:ext cx="7018476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1E6E-E531-F4B2-ED54-4F47583A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4A3526-012A-D709-7BB1-2B92843F526C}"/>
              </a:ext>
            </a:extLst>
          </p:cNvPr>
          <p:cNvSpPr txBox="1"/>
          <p:nvPr/>
        </p:nvSpPr>
        <p:spPr>
          <a:xfrm>
            <a:off x="411480" y="27432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Модель данных (КМД)</a:t>
            </a:r>
            <a:endParaRPr lang="en-US" sz="2400" dirty="0"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299C35-EA30-930E-1262-7F949320DF48}"/>
              </a:ext>
            </a:extLst>
          </p:cNvPr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5696CDAD-73C8-49DD-AA8C-548A8BB399A3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fld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676177-2780-B2FF-5524-68C7D672ABFE}"/>
              </a:ext>
            </a:extLst>
          </p:cNvPr>
          <p:cNvSpPr txBox="1"/>
          <p:nvPr/>
        </p:nvSpPr>
        <p:spPr>
          <a:xfrm>
            <a:off x="3633623" y="1021751"/>
            <a:ext cx="1371600" cy="5143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845AD73-9090-4F4A-7176-5D28790B5002}"/>
              </a:ext>
            </a:extLst>
          </p:cNvPr>
          <p:cNvSpPr txBox="1"/>
          <p:nvPr/>
        </p:nvSpPr>
        <p:spPr>
          <a:xfrm>
            <a:off x="444653" y="1021751"/>
            <a:ext cx="1371600" cy="5143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(справочник)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C04573-3A01-CFBC-8F4E-B44088DDBABB}"/>
              </a:ext>
            </a:extLst>
          </p:cNvPr>
          <p:cNvSpPr txBox="1"/>
          <p:nvPr/>
        </p:nvSpPr>
        <p:spPr>
          <a:xfrm>
            <a:off x="444653" y="2461931"/>
            <a:ext cx="1371600" cy="5143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отбора / веса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36CD1D3-0105-BCD1-C3D4-9C32D11F260C}"/>
              </a:ext>
            </a:extLst>
          </p:cNvPr>
          <p:cNvSpPr txBox="1"/>
          <p:nvPr/>
        </p:nvSpPr>
        <p:spPr>
          <a:xfrm>
            <a:off x="3633623" y="2461931"/>
            <a:ext cx="1371600" cy="5143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E9FCE3-B8D8-C114-AADE-A389A9DFE2D3}"/>
              </a:ext>
            </a:extLst>
          </p:cNvPr>
          <p:cNvSpPr txBox="1"/>
          <p:nvPr/>
        </p:nvSpPr>
        <p:spPr>
          <a:xfrm>
            <a:off x="6822593" y="2461931"/>
            <a:ext cx="1371600" cy="5143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F02970E-6D67-CBC1-CA0F-7BEF86B241CE}"/>
              </a:ext>
            </a:extLst>
          </p:cNvPr>
          <p:cNvSpPr txBox="1"/>
          <p:nvPr/>
        </p:nvSpPr>
        <p:spPr>
          <a:xfrm>
            <a:off x="5210963" y="3970691"/>
            <a:ext cx="1371600" cy="5143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954CD4-D102-F6B7-BA78-3B1C65AAD4F7}"/>
              </a:ext>
            </a:extLst>
          </p:cNvPr>
          <p:cNvSpPr txBox="1"/>
          <p:nvPr/>
        </p:nvSpPr>
        <p:spPr>
          <a:xfrm>
            <a:off x="2021993" y="3970691"/>
            <a:ext cx="1371600" cy="5143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статусов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1A048D-CDAB-E4AB-A02E-349025B1D8E9}"/>
              </a:ext>
            </a:extLst>
          </p:cNvPr>
          <p:cNvSpPr txBox="1"/>
          <p:nvPr/>
        </p:nvSpPr>
        <p:spPr>
          <a:xfrm>
            <a:off x="6822593" y="3970691"/>
            <a:ext cx="1371600" cy="5143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A202C"/>
            </a:solidFill>
          </a:ln>
        </p:spPr>
        <p:txBody>
          <a:bodyPr wrap="square" lIns="28575" tIns="28575" rIns="28575" bIns="28575" rtlCol="0" anchor="ctr"/>
          <a:lstStyle/>
          <a:p>
            <a:pPr algn="ctr"/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Почасовые метрики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B9AF18F-2C2B-CE7B-0C50-DB03AC3BD304}"/>
              </a:ext>
            </a:extLst>
          </p:cNvPr>
          <p:cNvSpPr/>
          <p:nvPr/>
        </p:nvSpPr>
        <p:spPr>
          <a:xfrm flipH="1">
            <a:off x="1816253" y="1275497"/>
            <a:ext cx="181737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B8B00B-3BB1-8A74-9BF5-4F7ED27092A8}"/>
              </a:ext>
            </a:extLst>
          </p:cNvPr>
          <p:cNvSpPr txBox="1"/>
          <p:nvPr/>
        </p:nvSpPr>
        <p:spPr>
          <a:xfrm>
            <a:off x="2193443" y="1104047"/>
            <a:ext cx="109728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настраивает</a:t>
            </a:r>
            <a:endParaRPr lang="en-US" sz="7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15D65A6-7217-361A-9C84-654494C4C046}"/>
              </a:ext>
            </a:extLst>
          </p:cNvPr>
          <p:cNvSpPr/>
          <p:nvPr/>
        </p:nvSpPr>
        <p:spPr>
          <a:xfrm>
            <a:off x="1130453" y="1536101"/>
            <a:ext cx="686" cy="92583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E371814-7BC9-795E-DE95-FD9AAFE84137}"/>
              </a:ext>
            </a:extLst>
          </p:cNvPr>
          <p:cNvSpPr txBox="1"/>
          <p:nvPr/>
        </p:nvSpPr>
        <p:spPr>
          <a:xfrm>
            <a:off x="1164743" y="1913291"/>
            <a:ext cx="102870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используются в</a:t>
            </a:r>
            <a:endParaRPr lang="en-US" sz="7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124A2BD-C9F5-DD77-94A3-E1EB720DFB1B}"/>
              </a:ext>
            </a:extLst>
          </p:cNvPr>
          <p:cNvSpPr/>
          <p:nvPr/>
        </p:nvSpPr>
        <p:spPr>
          <a:xfrm>
            <a:off x="4319423" y="1536101"/>
            <a:ext cx="686" cy="92583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4C2B4C6-BEA0-D95F-F040-8C5985ACEE3B}"/>
              </a:ext>
            </a:extLst>
          </p:cNvPr>
          <p:cNvSpPr txBox="1"/>
          <p:nvPr/>
        </p:nvSpPr>
        <p:spPr>
          <a:xfrm>
            <a:off x="4353713" y="1913291"/>
            <a:ext cx="68580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</a:t>
            </a:r>
            <a:endParaRPr lang="en-US" sz="7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D2624A6-0B3C-AEC3-11AF-AD8F23B0A470}"/>
              </a:ext>
            </a:extLst>
          </p:cNvPr>
          <p:cNvSpPr/>
          <p:nvPr/>
        </p:nvSpPr>
        <p:spPr>
          <a:xfrm>
            <a:off x="5005223" y="1275497"/>
            <a:ext cx="250317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9282FA4-C550-4A7E-8B9D-A4D8A302CE39}"/>
              </a:ext>
            </a:extLst>
          </p:cNvPr>
          <p:cNvSpPr/>
          <p:nvPr/>
        </p:nvSpPr>
        <p:spPr>
          <a:xfrm>
            <a:off x="7508393" y="1275497"/>
            <a:ext cx="686" cy="1186434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8B85E87-0EF2-A1D0-22A7-DDDCD49AC96F}"/>
              </a:ext>
            </a:extLst>
          </p:cNvPr>
          <p:cNvSpPr txBox="1"/>
          <p:nvPr/>
        </p:nvSpPr>
        <p:spPr>
          <a:xfrm>
            <a:off x="5862473" y="1104047"/>
            <a:ext cx="82296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включает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132A26F-6969-858E-E613-43D7F0A86089}"/>
              </a:ext>
            </a:extLst>
          </p:cNvPr>
          <p:cNvSpPr/>
          <p:nvPr/>
        </p:nvSpPr>
        <p:spPr>
          <a:xfrm>
            <a:off x="1816253" y="2715677"/>
            <a:ext cx="181737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8811AC9-D5AD-656C-EEE5-E19CE3A416A8}"/>
              </a:ext>
            </a:extLst>
          </p:cNvPr>
          <p:cNvSpPr txBox="1"/>
          <p:nvPr/>
        </p:nvSpPr>
        <p:spPr>
          <a:xfrm>
            <a:off x="1850543" y="2509937"/>
            <a:ext cx="174879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отбирают и взвешивают</a:t>
            </a:r>
            <a:endParaRPr lang="en-US" sz="7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1C2748A-9188-1E5B-8475-DB82AA85E1AC}"/>
              </a:ext>
            </a:extLst>
          </p:cNvPr>
          <p:cNvSpPr/>
          <p:nvPr/>
        </p:nvSpPr>
        <p:spPr>
          <a:xfrm>
            <a:off x="4490873" y="2976281"/>
            <a:ext cx="686" cy="124815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8FB048C-2AD5-705F-9D78-AE14002B9F6C}"/>
              </a:ext>
            </a:extLst>
          </p:cNvPr>
          <p:cNvSpPr/>
          <p:nvPr/>
        </p:nvSpPr>
        <p:spPr>
          <a:xfrm>
            <a:off x="4490873" y="4224437"/>
            <a:ext cx="72009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92908CA-57D2-D345-A9EB-433956B57F21}"/>
              </a:ext>
            </a:extLst>
          </p:cNvPr>
          <p:cNvSpPr txBox="1"/>
          <p:nvPr/>
        </p:nvSpPr>
        <p:spPr>
          <a:xfrm>
            <a:off x="4559453" y="3422051"/>
            <a:ext cx="102870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распределяется</a:t>
            </a:r>
            <a:endParaRPr lang="en-US" sz="7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D40F2B9-DDCA-DC03-8041-96CDEDBC245F}"/>
              </a:ext>
            </a:extLst>
          </p:cNvPr>
          <p:cNvSpPr/>
          <p:nvPr/>
        </p:nvSpPr>
        <p:spPr>
          <a:xfrm flipV="1">
            <a:off x="5896763" y="2715677"/>
            <a:ext cx="686" cy="1255014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157CCF3-A827-3731-804F-021557A821F0}"/>
              </a:ext>
            </a:extLst>
          </p:cNvPr>
          <p:cNvSpPr/>
          <p:nvPr/>
        </p:nvSpPr>
        <p:spPr>
          <a:xfrm>
            <a:off x="5896763" y="2715677"/>
            <a:ext cx="92583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C6927D5-C9A9-0008-C8B4-FF9C0E836ACF}"/>
              </a:ext>
            </a:extLst>
          </p:cNvPr>
          <p:cNvSpPr txBox="1"/>
          <p:nvPr/>
        </p:nvSpPr>
        <p:spPr>
          <a:xfrm>
            <a:off x="5965343" y="3422051"/>
            <a:ext cx="89154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доставляется</a:t>
            </a:r>
            <a:endParaRPr lang="en-US" sz="7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8A3D0D2-2231-1369-A887-F309F515C3D4}"/>
              </a:ext>
            </a:extLst>
          </p:cNvPr>
          <p:cNvSpPr/>
          <p:nvPr/>
        </p:nvSpPr>
        <p:spPr>
          <a:xfrm>
            <a:off x="3942233" y="2976281"/>
            <a:ext cx="686" cy="124815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E9040B4-0EB9-7B83-08F6-E47E69E6FF95}"/>
              </a:ext>
            </a:extLst>
          </p:cNvPr>
          <p:cNvSpPr/>
          <p:nvPr/>
        </p:nvSpPr>
        <p:spPr>
          <a:xfrm flipH="1">
            <a:off x="3393593" y="4224437"/>
            <a:ext cx="54864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83EFFA2-DF1E-26CC-2106-E5B3F5D055D9}"/>
              </a:ext>
            </a:extLst>
          </p:cNvPr>
          <p:cNvSpPr txBox="1"/>
          <p:nvPr/>
        </p:nvSpPr>
        <p:spPr>
          <a:xfrm>
            <a:off x="2879243" y="3422051"/>
            <a:ext cx="102870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 статус</a:t>
            </a:r>
            <a:endParaRPr lang="en-US" sz="7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563793E-0B73-47DC-1D90-169B8CC59835}"/>
              </a:ext>
            </a:extLst>
          </p:cNvPr>
          <p:cNvSpPr/>
          <p:nvPr/>
        </p:nvSpPr>
        <p:spPr>
          <a:xfrm>
            <a:off x="7508393" y="2976281"/>
            <a:ext cx="686" cy="99441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C0D9A53-5342-3B79-6580-84849E370DFE}"/>
              </a:ext>
            </a:extLst>
          </p:cNvPr>
          <p:cNvSpPr txBox="1"/>
          <p:nvPr/>
        </p:nvSpPr>
        <p:spPr>
          <a:xfrm>
            <a:off x="7576973" y="3422051"/>
            <a:ext cx="548640" cy="171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копит</a:t>
            </a:r>
            <a:endParaRPr lang="en-US" sz="75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A40C1B54-EEE5-BC59-4C86-77ECCBC14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01F5C1A4-07E8-B85B-3AA0-49EC2C802FFA}"/>
              </a:ext>
            </a:extLst>
          </p:cNvPr>
          <p:cNvCxnSpPr>
            <a:cxnSpLocks/>
          </p:cNvCxnSpPr>
          <p:nvPr/>
        </p:nvCxnSpPr>
        <p:spPr>
          <a:xfrm>
            <a:off x="411480" y="695505"/>
            <a:ext cx="3053040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255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1592EC8F-747F-0557-7B40-2EA92032B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411480" y="27432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ERD: физическая модель (PostgreSQL)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35D74944-44A3-49C8-A68D-C32093ED2B74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fld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42900" y="822960"/>
            <a:ext cx="1851660" cy="7955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" name="Text 4"/>
          <p:cNvSpPr txBox="1"/>
          <p:nvPr/>
        </p:nvSpPr>
        <p:spPr>
          <a:xfrm>
            <a:off x="342900" y="82296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825" dirty="0"/>
          </a:p>
        </p:txBody>
      </p:sp>
      <p:sp>
        <p:nvSpPr>
          <p:cNvPr id="7" name="Text 5"/>
          <p:cNvSpPr txBox="1"/>
          <p:nvPr/>
        </p:nvSpPr>
        <p:spPr>
          <a:xfrm>
            <a:off x="342900" y="1097280"/>
            <a:ext cx="1851660" cy="493776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name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мотивации</a:t>
            </a:r>
            <a:endParaRPr lang="en-US" sz="713" dirty="0"/>
          </a:p>
        </p:txBody>
      </p:sp>
      <p:sp>
        <p:nvSpPr>
          <p:cNvPr id="8" name="Shape 6"/>
          <p:cNvSpPr/>
          <p:nvPr/>
        </p:nvSpPr>
        <p:spPr>
          <a:xfrm>
            <a:off x="342900" y="205740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9" name="Text 7"/>
          <p:cNvSpPr txBox="1"/>
          <p:nvPr/>
        </p:nvSpPr>
        <p:spPr>
          <a:xfrm>
            <a:off x="342900" y="205740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field_definitions</a:t>
            </a:r>
            <a:endParaRPr lang="en-US" sz="825" dirty="0"/>
          </a:p>
        </p:txBody>
      </p:sp>
      <p:sp>
        <p:nvSpPr>
          <p:cNvPr id="10" name="Text 8"/>
          <p:cNvSpPr txBox="1"/>
          <p:nvPr/>
        </p:nvSpPr>
        <p:spPr>
          <a:xfrm>
            <a:off x="342900" y="2331720"/>
            <a:ext cx="1851660" cy="658368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department_id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key, type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option_labels</a:t>
            </a:r>
            <a:endParaRPr lang="en-US" sz="713" dirty="0"/>
          </a:p>
        </p:txBody>
      </p:sp>
      <p:sp>
        <p:nvSpPr>
          <p:cNvPr id="11" name="Shape 9"/>
          <p:cNvSpPr/>
          <p:nvPr/>
        </p:nvSpPr>
        <p:spPr>
          <a:xfrm>
            <a:off x="342900" y="3429000"/>
            <a:ext cx="1851660" cy="11247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2" name="Text 10"/>
          <p:cNvSpPr txBox="1"/>
          <p:nvPr/>
        </p:nvSpPr>
        <p:spPr>
          <a:xfrm>
            <a:off x="342900" y="342900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rules / weight_rules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342900" y="3703320"/>
            <a:ext cx="1851660" cy="82296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department_id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order_field, operator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executor_field | value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weight</a:t>
            </a:r>
            <a:endParaRPr lang="en-US" sz="713" dirty="0"/>
          </a:p>
        </p:txBody>
      </p:sp>
      <p:sp>
        <p:nvSpPr>
          <p:cNvPr id="14" name="Shape 12"/>
          <p:cNvSpPr/>
          <p:nvPr/>
        </p:nvSpPr>
        <p:spPr>
          <a:xfrm>
            <a:off x="2503170" y="822960"/>
            <a:ext cx="1851660" cy="128930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5" name="Text 13"/>
          <p:cNvSpPr txBox="1"/>
          <p:nvPr/>
        </p:nvSpPr>
        <p:spPr>
          <a:xfrm>
            <a:off x="2503170" y="82296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25" dirty="0"/>
          </a:p>
        </p:txBody>
      </p:sp>
      <p:sp>
        <p:nvSpPr>
          <p:cNvPr id="16" name="Text 14"/>
          <p:cNvSpPr txBox="1"/>
          <p:nvPr/>
        </p:nvSpPr>
        <p:spPr>
          <a:xfrm>
            <a:off x="2503170" y="1097280"/>
            <a:ext cx="1851660" cy="987552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 (из АИС)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department_id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parent_id, status, weight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(jsonb)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executor_id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rework_count, points</a:t>
            </a:r>
            <a:endParaRPr lang="en-US" sz="713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1851660" cy="128930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8" name="Text 16"/>
          <p:cNvSpPr txBox="1"/>
          <p:nvPr/>
        </p:nvSpPr>
        <p:spPr>
          <a:xfrm>
            <a:off x="4663440" y="82296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executors</a:t>
            </a:r>
            <a:endParaRPr lang="en-US" sz="825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097280"/>
            <a:ext cx="1851660" cy="987552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 (из АИС)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department_id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is_active, daily_limit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qualification_weight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extra_percent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(jsonb)</a:t>
            </a:r>
            <a:endParaRPr lang="en-US" sz="713" dirty="0"/>
          </a:p>
        </p:txBody>
      </p:sp>
      <p:sp>
        <p:nvSpPr>
          <p:cNvPr id="20" name="Shape 18"/>
          <p:cNvSpPr/>
          <p:nvPr/>
        </p:nvSpPr>
        <p:spPr>
          <a:xfrm>
            <a:off x="2503170" y="2846070"/>
            <a:ext cx="1851660" cy="11247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1" name="Text 19"/>
          <p:cNvSpPr txBox="1"/>
          <p:nvPr/>
        </p:nvSpPr>
        <p:spPr>
          <a:xfrm>
            <a:off x="2503170" y="284607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825" dirty="0"/>
          </a:p>
        </p:txBody>
      </p:sp>
      <p:sp>
        <p:nvSpPr>
          <p:cNvPr id="22" name="Text 20"/>
          <p:cNvSpPr txBox="1"/>
          <p:nvPr/>
        </p:nvSpPr>
        <p:spPr>
          <a:xfrm>
            <a:off x="2503170" y="3120390"/>
            <a:ext cx="1851660" cy="82296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order_id, FK executor_id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kind, order_weight, score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 (уник.)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(jsonb)</a:t>
            </a:r>
            <a:endParaRPr lang="en-US" sz="713" dirty="0"/>
          </a:p>
        </p:txBody>
      </p:sp>
      <p:sp>
        <p:nvSpPr>
          <p:cNvPr id="23" name="Shape 21"/>
          <p:cNvSpPr/>
          <p:nvPr/>
        </p:nvSpPr>
        <p:spPr>
          <a:xfrm>
            <a:off x="4663440" y="284607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4" name="Text 22"/>
          <p:cNvSpPr txBox="1"/>
          <p:nvPr/>
        </p:nvSpPr>
        <p:spPr>
          <a:xfrm>
            <a:off x="4663440" y="284607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outbox_messages</a:t>
            </a:r>
            <a:endParaRPr lang="en-US" sz="825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120390"/>
            <a:ext cx="1851660" cy="658368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order_id, executor_id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next_attempt_at, sent_at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attempts, last_error</a:t>
            </a:r>
            <a:endParaRPr lang="en-US" sz="713" dirty="0"/>
          </a:p>
        </p:txBody>
      </p:sp>
      <p:sp>
        <p:nvSpPr>
          <p:cNvPr id="26" name="Shape 24"/>
          <p:cNvSpPr/>
          <p:nvPr/>
        </p:nvSpPr>
        <p:spPr>
          <a:xfrm>
            <a:off x="6823710" y="822960"/>
            <a:ext cx="1851660" cy="7955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7" name="Text 25"/>
          <p:cNvSpPr txBox="1"/>
          <p:nvPr/>
        </p:nvSpPr>
        <p:spPr>
          <a:xfrm>
            <a:off x="6823710" y="82296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executor_hour_stats</a:t>
            </a:r>
            <a:endParaRPr lang="en-US" sz="825" dirty="0"/>
          </a:p>
        </p:txBody>
      </p:sp>
      <p:sp>
        <p:nvSpPr>
          <p:cNvPr id="28" name="Text 26"/>
          <p:cNvSpPr txBox="1"/>
          <p:nvPr/>
        </p:nvSpPr>
        <p:spPr>
          <a:xfrm>
            <a:off x="6823710" y="1097280"/>
            <a:ext cx="1851660" cy="493776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bucket_hour + executor_id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назначено, вес, закрыто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возвраты, баллы</a:t>
            </a:r>
            <a:endParaRPr lang="en-US" sz="713" dirty="0"/>
          </a:p>
        </p:txBody>
      </p:sp>
      <p:sp>
        <p:nvSpPr>
          <p:cNvPr id="29" name="Shape 27"/>
          <p:cNvSpPr/>
          <p:nvPr/>
        </p:nvSpPr>
        <p:spPr>
          <a:xfrm>
            <a:off x="6823710" y="2057400"/>
            <a:ext cx="1851660" cy="63093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0" name="Text 28"/>
          <p:cNvSpPr txBox="1"/>
          <p:nvPr/>
        </p:nvSpPr>
        <p:spPr>
          <a:xfrm>
            <a:off x="6823710" y="205740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eligibility_hour_stats</a:t>
            </a:r>
            <a:endParaRPr lang="en-US" sz="825" dirty="0"/>
          </a:p>
        </p:txBody>
      </p:sp>
      <p:sp>
        <p:nvSpPr>
          <p:cNvPr id="31" name="Text 29"/>
          <p:cNvSpPr txBox="1"/>
          <p:nvPr/>
        </p:nvSpPr>
        <p:spPr>
          <a:xfrm>
            <a:off x="6823710" y="2331720"/>
            <a:ext cx="1851660" cy="329184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hour + набор исполнителей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вес: кто мог взять</a:t>
            </a:r>
            <a:endParaRPr lang="en-US" sz="713" dirty="0"/>
          </a:p>
        </p:txBody>
      </p:sp>
      <p:sp>
        <p:nvSpPr>
          <p:cNvPr id="32" name="Shape 30"/>
          <p:cNvSpPr/>
          <p:nvPr/>
        </p:nvSpPr>
        <p:spPr>
          <a:xfrm>
            <a:off x="6823710" y="3086100"/>
            <a:ext cx="1851660" cy="63093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3" name="Text 31"/>
          <p:cNvSpPr txBox="1"/>
          <p:nvPr/>
        </p:nvSpPr>
        <p:spPr>
          <a:xfrm>
            <a:off x="6823710" y="308610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order_status_changes</a:t>
            </a:r>
            <a:endParaRPr lang="en-US" sz="825" dirty="0"/>
          </a:p>
        </p:txBody>
      </p:sp>
      <p:sp>
        <p:nvSpPr>
          <p:cNvPr id="34" name="Text 32"/>
          <p:cNvSpPr txBox="1"/>
          <p:nvPr/>
        </p:nvSpPr>
        <p:spPr>
          <a:xfrm>
            <a:off x="6823710" y="3360420"/>
            <a:ext cx="1851660" cy="329184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→ to, at</a:t>
            </a:r>
            <a:endParaRPr lang="en-US" sz="713" dirty="0"/>
          </a:p>
        </p:txBody>
      </p:sp>
      <p:sp>
        <p:nvSpPr>
          <p:cNvPr id="35" name="Shape 33"/>
          <p:cNvSpPr/>
          <p:nvPr/>
        </p:nvSpPr>
        <p:spPr>
          <a:xfrm>
            <a:off x="6823710" y="3909060"/>
            <a:ext cx="1851660" cy="63093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6" name="Text 34"/>
          <p:cNvSpPr txBox="1"/>
          <p:nvPr/>
        </p:nvSpPr>
        <p:spPr>
          <a:xfrm>
            <a:off x="6823710" y="3909060"/>
            <a:ext cx="1851660" cy="2468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47625" tIns="47625" rIns="47625" bIns="47625" rtlCol="0" anchor="ctr"/>
          <a:lstStyle/>
          <a:p>
            <a:r>
              <a:rPr lang="en-US" sz="825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users · audit_entries</a:t>
            </a:r>
            <a:endParaRPr lang="en-US" sz="825" dirty="0"/>
          </a:p>
        </p:txBody>
      </p:sp>
      <p:sp>
        <p:nvSpPr>
          <p:cNvPr id="37" name="Text 35"/>
          <p:cNvSpPr txBox="1"/>
          <p:nvPr/>
        </p:nvSpPr>
        <p:spPr>
          <a:xfrm>
            <a:off x="6823710" y="4183380"/>
            <a:ext cx="1851660" cy="329184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роль, отделы, хеш пароля</a:t>
            </a:r>
            <a:endParaRPr lang="en-US" sz="713" dirty="0"/>
          </a:p>
          <a:p>
            <a:r>
              <a:rPr lang="en-US" sz="71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что, когда</a:t>
            </a:r>
            <a:endParaRPr lang="en-US" sz="713" dirty="0"/>
          </a:p>
        </p:txBody>
      </p:sp>
      <p:sp>
        <p:nvSpPr>
          <p:cNvPr id="38" name="Shape 36"/>
          <p:cNvSpPr/>
          <p:nvPr/>
        </p:nvSpPr>
        <p:spPr>
          <a:xfrm>
            <a:off x="1268730" y="1618488"/>
            <a:ext cx="686" cy="438912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39" name="Shape 37"/>
          <p:cNvSpPr/>
          <p:nvPr/>
        </p:nvSpPr>
        <p:spPr>
          <a:xfrm>
            <a:off x="1268730" y="3017520"/>
            <a:ext cx="686" cy="41148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0" name="Shape 38"/>
          <p:cNvSpPr/>
          <p:nvPr/>
        </p:nvSpPr>
        <p:spPr>
          <a:xfrm>
            <a:off x="2194560" y="1097280"/>
            <a:ext cx="30861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1" name="Shape 39"/>
          <p:cNvSpPr/>
          <p:nvPr/>
        </p:nvSpPr>
        <p:spPr>
          <a:xfrm>
            <a:off x="4354830" y="1440180"/>
            <a:ext cx="30861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2" name="Shape 40"/>
          <p:cNvSpPr/>
          <p:nvPr/>
        </p:nvSpPr>
        <p:spPr>
          <a:xfrm>
            <a:off x="3429000" y="2112264"/>
            <a:ext cx="686" cy="73380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3" name="Shape 41"/>
          <p:cNvSpPr/>
          <p:nvPr/>
        </p:nvSpPr>
        <p:spPr>
          <a:xfrm>
            <a:off x="5074920" y="2112264"/>
            <a:ext cx="686" cy="49377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4" name="Shape 42"/>
          <p:cNvSpPr/>
          <p:nvPr/>
        </p:nvSpPr>
        <p:spPr>
          <a:xfrm flipH="1">
            <a:off x="3943350" y="2606040"/>
            <a:ext cx="113157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5" name="Shape 43"/>
          <p:cNvSpPr/>
          <p:nvPr/>
        </p:nvSpPr>
        <p:spPr>
          <a:xfrm>
            <a:off x="3943350" y="2606040"/>
            <a:ext cx="686" cy="24003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6" name="Shape 44"/>
          <p:cNvSpPr/>
          <p:nvPr/>
        </p:nvSpPr>
        <p:spPr>
          <a:xfrm>
            <a:off x="4354830" y="3360420"/>
            <a:ext cx="30861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47" name="Shape 45"/>
          <p:cNvSpPr/>
          <p:nvPr/>
        </p:nvSpPr>
        <p:spPr>
          <a:xfrm>
            <a:off x="6515100" y="1097280"/>
            <a:ext cx="308610" cy="686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EA479C61-659D-4D40-AF5E-8766A257722D}"/>
              </a:ext>
            </a:extLst>
          </p:cNvPr>
          <p:cNvCxnSpPr>
            <a:cxnSpLocks/>
          </p:cNvCxnSpPr>
          <p:nvPr/>
        </p:nvCxnSpPr>
        <p:spPr>
          <a:xfrm>
            <a:off x="350532" y="627534"/>
            <a:ext cx="5256584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Use case: кто и что делает в системе</a:t>
            </a:r>
            <a:endParaRPr lang="en-US" sz="2400" dirty="0">
              <a:latin typeface="Calibri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4A98292B-F41B-4FF2-B095-D67BF4A00AA4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fld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440180" y="788670"/>
            <a:ext cx="6103620" cy="3943350"/>
          </a:xfrm>
          <a:prstGeom prst="rect">
            <a:avLst/>
          </a:prstGeom>
          <a:solidFill>
            <a:srgbClr val="FBFCFD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7" name="Shape 5"/>
          <p:cNvSpPr/>
          <p:nvPr/>
        </p:nvSpPr>
        <p:spPr>
          <a:xfrm>
            <a:off x="603504" y="1062990"/>
            <a:ext cx="233172" cy="233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8" name="Shape 6"/>
          <p:cNvSpPr/>
          <p:nvPr/>
        </p:nvSpPr>
        <p:spPr>
          <a:xfrm>
            <a:off x="720090" y="1296162"/>
            <a:ext cx="686" cy="315468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9" name="Shape 7"/>
          <p:cNvSpPr/>
          <p:nvPr/>
        </p:nvSpPr>
        <p:spPr>
          <a:xfrm>
            <a:off x="514350" y="1405890"/>
            <a:ext cx="411480" cy="686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0" name="Shape 8"/>
          <p:cNvSpPr/>
          <p:nvPr/>
        </p:nvSpPr>
        <p:spPr>
          <a:xfrm flipH="1">
            <a:off x="569214" y="1611630"/>
            <a:ext cx="150876" cy="24003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1" name="Shape 9"/>
          <p:cNvSpPr/>
          <p:nvPr/>
        </p:nvSpPr>
        <p:spPr>
          <a:xfrm>
            <a:off x="720090" y="1611630"/>
            <a:ext cx="150876" cy="24003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2" name="Text 10"/>
          <p:cNvSpPr txBox="1"/>
          <p:nvPr/>
        </p:nvSpPr>
        <p:spPr>
          <a:xfrm>
            <a:off x="102870" y="1885950"/>
            <a:ext cx="12344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88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(система)</a:t>
            </a:r>
            <a:endParaRPr lang="en-US" sz="788" dirty="0"/>
          </a:p>
        </p:txBody>
      </p:sp>
      <p:sp>
        <p:nvSpPr>
          <p:cNvPr id="13" name="Shape 11"/>
          <p:cNvSpPr/>
          <p:nvPr/>
        </p:nvSpPr>
        <p:spPr>
          <a:xfrm>
            <a:off x="603504" y="3120390"/>
            <a:ext cx="233172" cy="233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4" name="Shape 12"/>
          <p:cNvSpPr/>
          <p:nvPr/>
        </p:nvSpPr>
        <p:spPr>
          <a:xfrm>
            <a:off x="720090" y="3353562"/>
            <a:ext cx="686" cy="315468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5" name="Shape 13"/>
          <p:cNvSpPr/>
          <p:nvPr/>
        </p:nvSpPr>
        <p:spPr>
          <a:xfrm>
            <a:off x="514350" y="3463290"/>
            <a:ext cx="411480" cy="686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6" name="Shape 14"/>
          <p:cNvSpPr/>
          <p:nvPr/>
        </p:nvSpPr>
        <p:spPr>
          <a:xfrm flipH="1">
            <a:off x="569214" y="3669030"/>
            <a:ext cx="150876" cy="24003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7" name="Shape 15"/>
          <p:cNvSpPr/>
          <p:nvPr/>
        </p:nvSpPr>
        <p:spPr>
          <a:xfrm>
            <a:off x="720090" y="3669030"/>
            <a:ext cx="150876" cy="24003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8" name="Text 16"/>
          <p:cNvSpPr txBox="1"/>
          <p:nvPr/>
        </p:nvSpPr>
        <p:spPr>
          <a:xfrm>
            <a:off x="102870" y="3943350"/>
            <a:ext cx="12344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88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Наблюдатель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8250174" y="1062990"/>
            <a:ext cx="233172" cy="233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0" name="Shape 18"/>
          <p:cNvSpPr/>
          <p:nvPr/>
        </p:nvSpPr>
        <p:spPr>
          <a:xfrm>
            <a:off x="8366760" y="1296162"/>
            <a:ext cx="686" cy="315468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1" name="Shape 19"/>
          <p:cNvSpPr/>
          <p:nvPr/>
        </p:nvSpPr>
        <p:spPr>
          <a:xfrm>
            <a:off x="8161020" y="1405890"/>
            <a:ext cx="411480" cy="686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2" name="Shape 20"/>
          <p:cNvSpPr/>
          <p:nvPr/>
        </p:nvSpPr>
        <p:spPr>
          <a:xfrm flipH="1">
            <a:off x="8215884" y="1611630"/>
            <a:ext cx="150876" cy="24003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3" name="Shape 21"/>
          <p:cNvSpPr/>
          <p:nvPr/>
        </p:nvSpPr>
        <p:spPr>
          <a:xfrm>
            <a:off x="8366760" y="1611630"/>
            <a:ext cx="150876" cy="24003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4" name="Text 22"/>
          <p:cNvSpPr txBox="1"/>
          <p:nvPr/>
        </p:nvSpPr>
        <p:spPr>
          <a:xfrm>
            <a:off x="7749540" y="1885950"/>
            <a:ext cx="12344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88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отдела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8250174" y="3120390"/>
            <a:ext cx="233172" cy="233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6" name="Shape 24"/>
          <p:cNvSpPr/>
          <p:nvPr/>
        </p:nvSpPr>
        <p:spPr>
          <a:xfrm>
            <a:off x="8366760" y="3353562"/>
            <a:ext cx="686" cy="315468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7" name="Shape 25"/>
          <p:cNvSpPr/>
          <p:nvPr/>
        </p:nvSpPr>
        <p:spPr>
          <a:xfrm>
            <a:off x="8161020" y="3463290"/>
            <a:ext cx="411480" cy="686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8" name="Shape 26"/>
          <p:cNvSpPr/>
          <p:nvPr/>
        </p:nvSpPr>
        <p:spPr>
          <a:xfrm flipH="1">
            <a:off x="8215884" y="3669030"/>
            <a:ext cx="150876" cy="24003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29" name="Shape 27"/>
          <p:cNvSpPr/>
          <p:nvPr/>
        </p:nvSpPr>
        <p:spPr>
          <a:xfrm>
            <a:off x="8366760" y="3669030"/>
            <a:ext cx="150876" cy="24003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0" name="Text 28"/>
          <p:cNvSpPr txBox="1"/>
          <p:nvPr/>
        </p:nvSpPr>
        <p:spPr>
          <a:xfrm>
            <a:off x="7749540" y="3943350"/>
            <a:ext cx="12344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88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1748790" y="102870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2" name="Text 30"/>
          <p:cNvSpPr txBox="1"/>
          <p:nvPr/>
        </p:nvSpPr>
        <p:spPr>
          <a:xfrm>
            <a:off x="1851660" y="10287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Передать заявку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748790" y="164592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4" name="Text 32"/>
          <p:cNvSpPr txBox="1"/>
          <p:nvPr/>
        </p:nvSpPr>
        <p:spPr>
          <a:xfrm>
            <a:off x="1851660" y="16459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Сменить статус заявки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748790" y="226314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6" name="Text 34"/>
          <p:cNvSpPr txBox="1"/>
          <p:nvPr/>
        </p:nvSpPr>
        <p:spPr>
          <a:xfrm>
            <a:off x="1851660" y="22631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Передать исполнителя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703320" y="1337310"/>
            <a:ext cx="1577340" cy="49377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38" name="Text 36"/>
          <p:cNvSpPr txBox="1"/>
          <p:nvPr/>
        </p:nvSpPr>
        <p:spPr>
          <a:xfrm>
            <a:off x="3806190" y="133731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Распределить заявку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703320" y="2057400"/>
            <a:ext cx="1440180" cy="49377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0" name="Text 38"/>
          <p:cNvSpPr txBox="1"/>
          <p:nvPr/>
        </p:nvSpPr>
        <p:spPr>
          <a:xfrm>
            <a:off x="3806190" y="205740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решение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748790" y="312039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2" name="Text 40"/>
          <p:cNvSpPr txBox="1"/>
          <p:nvPr/>
        </p:nvSpPr>
        <p:spPr>
          <a:xfrm>
            <a:off x="1851660" y="312039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и аналитика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48790" y="380619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4" name="Text 42"/>
          <p:cNvSpPr txBox="1"/>
          <p:nvPr/>
        </p:nvSpPr>
        <p:spPr>
          <a:xfrm>
            <a:off x="1851660" y="380619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в Excel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760720" y="102870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6" name="Text 44"/>
          <p:cNvSpPr txBox="1"/>
          <p:nvPr/>
        </p:nvSpPr>
        <p:spPr>
          <a:xfrm>
            <a:off x="5863590" y="10287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Управлять сотрудниками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760720" y="164592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48" name="Text 46"/>
          <p:cNvSpPr txBox="1"/>
          <p:nvPr/>
        </p:nvSpPr>
        <p:spPr>
          <a:xfrm>
            <a:off x="5863590" y="16459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заявку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760720" y="226314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0" name="Text 48"/>
          <p:cNvSpPr txBox="1"/>
          <p:nvPr/>
        </p:nvSpPr>
        <p:spPr>
          <a:xfrm>
            <a:off x="5863590" y="22631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ИИ-разбор заявок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760720" y="312039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2" name="Text 50"/>
          <p:cNvSpPr txBox="1"/>
          <p:nvPr/>
        </p:nvSpPr>
        <p:spPr>
          <a:xfrm>
            <a:off x="5863590" y="312039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Настроить параметры и правила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760720" y="3806190"/>
            <a:ext cx="1577340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4" name="Text 52"/>
          <p:cNvSpPr txBox="1"/>
          <p:nvPr/>
        </p:nvSpPr>
        <p:spPr>
          <a:xfrm>
            <a:off x="5863590" y="380619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и отделы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 flipV="1">
            <a:off x="960120" y="1275588"/>
            <a:ext cx="788670" cy="164592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6" name="Shape 54"/>
          <p:cNvSpPr/>
          <p:nvPr/>
        </p:nvSpPr>
        <p:spPr>
          <a:xfrm>
            <a:off x="960120" y="1440180"/>
            <a:ext cx="788670" cy="452628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7" name="Shape 55"/>
          <p:cNvSpPr/>
          <p:nvPr/>
        </p:nvSpPr>
        <p:spPr>
          <a:xfrm>
            <a:off x="960120" y="1440180"/>
            <a:ext cx="788670" cy="1069848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8" name="Shape 56"/>
          <p:cNvSpPr/>
          <p:nvPr/>
        </p:nvSpPr>
        <p:spPr>
          <a:xfrm flipV="1">
            <a:off x="960120" y="3367278"/>
            <a:ext cx="788670" cy="130302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59" name="Shape 57"/>
          <p:cNvSpPr/>
          <p:nvPr/>
        </p:nvSpPr>
        <p:spPr>
          <a:xfrm>
            <a:off x="960120" y="3497580"/>
            <a:ext cx="788670" cy="555498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0" name="Shape 58"/>
          <p:cNvSpPr/>
          <p:nvPr/>
        </p:nvSpPr>
        <p:spPr>
          <a:xfrm flipH="1" flipV="1">
            <a:off x="7338060" y="1275588"/>
            <a:ext cx="788670" cy="164592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1" name="Shape 59"/>
          <p:cNvSpPr/>
          <p:nvPr/>
        </p:nvSpPr>
        <p:spPr>
          <a:xfrm flipH="1">
            <a:off x="7338060" y="1440180"/>
            <a:ext cx="788670" cy="452628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2" name="Shape 60"/>
          <p:cNvSpPr/>
          <p:nvPr/>
        </p:nvSpPr>
        <p:spPr>
          <a:xfrm flipH="1">
            <a:off x="7338060" y="1440180"/>
            <a:ext cx="788670" cy="1069848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3" name="Shape 61"/>
          <p:cNvSpPr/>
          <p:nvPr/>
        </p:nvSpPr>
        <p:spPr>
          <a:xfrm flipH="1" flipV="1">
            <a:off x="7338060" y="3367278"/>
            <a:ext cx="788670" cy="130302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4" name="Shape 62"/>
          <p:cNvSpPr/>
          <p:nvPr/>
        </p:nvSpPr>
        <p:spPr>
          <a:xfrm flipH="1">
            <a:off x="7338060" y="3497580"/>
            <a:ext cx="788670" cy="555498"/>
          </a:xfrm>
          <a:prstGeom prst="line">
            <a:avLst/>
          </a:prstGeom>
          <a:noFill/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5" name="Shape 63"/>
          <p:cNvSpPr/>
          <p:nvPr/>
        </p:nvSpPr>
        <p:spPr>
          <a:xfrm>
            <a:off x="3326130" y="1275588"/>
            <a:ext cx="377190" cy="205740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66" name="Text 64"/>
          <p:cNvSpPr txBox="1"/>
          <p:nvPr/>
        </p:nvSpPr>
        <p:spPr>
          <a:xfrm>
            <a:off x="3257550" y="1062990"/>
            <a:ext cx="548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</a:t>
            </a:r>
            <a:endParaRPr lang="en-US" sz="638" dirty="0"/>
          </a:p>
        </p:txBody>
      </p:sp>
      <p:sp>
        <p:nvSpPr>
          <p:cNvPr id="67" name="Shape 65"/>
          <p:cNvSpPr/>
          <p:nvPr/>
        </p:nvSpPr>
        <p:spPr>
          <a:xfrm flipV="1">
            <a:off x="3326130" y="1687068"/>
            <a:ext cx="377190" cy="205740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68" name="Text 66"/>
          <p:cNvSpPr txBox="1"/>
          <p:nvPr/>
        </p:nvSpPr>
        <p:spPr>
          <a:xfrm>
            <a:off x="3257550" y="1748790"/>
            <a:ext cx="548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</a:t>
            </a:r>
            <a:endParaRPr lang="en-US" sz="638" dirty="0"/>
          </a:p>
        </p:txBody>
      </p:sp>
      <p:sp>
        <p:nvSpPr>
          <p:cNvPr id="69" name="Shape 67"/>
          <p:cNvSpPr/>
          <p:nvPr/>
        </p:nvSpPr>
        <p:spPr>
          <a:xfrm flipV="1">
            <a:off x="4423410" y="1831086"/>
            <a:ext cx="68580" cy="226314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70" name="Text 68"/>
          <p:cNvSpPr txBox="1"/>
          <p:nvPr/>
        </p:nvSpPr>
        <p:spPr>
          <a:xfrm>
            <a:off x="4526280" y="1865376"/>
            <a:ext cx="548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</a:t>
            </a:r>
            <a:endParaRPr lang="en-US" sz="638" dirty="0"/>
          </a:p>
        </p:txBody>
      </p:sp>
      <p:sp>
        <p:nvSpPr>
          <p:cNvPr id="71" name="Shape 69"/>
          <p:cNvSpPr/>
          <p:nvPr/>
        </p:nvSpPr>
        <p:spPr>
          <a:xfrm flipH="1">
            <a:off x="5143500" y="1892808"/>
            <a:ext cx="617220" cy="411480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72" name="Text 70"/>
          <p:cNvSpPr txBox="1"/>
          <p:nvPr/>
        </p:nvSpPr>
        <p:spPr>
          <a:xfrm>
            <a:off x="5143500" y="2091690"/>
            <a:ext cx="548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</a:t>
            </a:r>
            <a:endParaRPr lang="en-US" sz="638" dirty="0"/>
          </a:p>
        </p:txBody>
      </p:sp>
      <p:sp>
        <p:nvSpPr>
          <p:cNvPr id="73" name="Shape 71"/>
          <p:cNvSpPr/>
          <p:nvPr/>
        </p:nvSpPr>
        <p:spPr>
          <a:xfrm flipV="1">
            <a:off x="8366760" y="2194560"/>
            <a:ext cx="686" cy="85725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  <a:tailEnd type="triangle"/>
          </a:ln>
        </p:spPr>
        <p:txBody>
          <a:bodyPr/>
          <a:lstStyle/>
          <a:p>
            <a:endParaRPr lang="ru-RU" sz="1350"/>
          </a:p>
        </p:txBody>
      </p:sp>
      <p:sp>
        <p:nvSpPr>
          <p:cNvPr id="74" name="Text 72"/>
          <p:cNvSpPr txBox="1"/>
          <p:nvPr/>
        </p:nvSpPr>
        <p:spPr>
          <a:xfrm>
            <a:off x="8435340" y="25374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наследует права</a:t>
            </a:r>
            <a:endParaRPr lang="en-US" sz="638" dirty="0"/>
          </a:p>
        </p:txBody>
      </p:sp>
      <p:sp>
        <p:nvSpPr>
          <p:cNvPr id="75" name="Text 73"/>
          <p:cNvSpPr txBox="1"/>
          <p:nvPr/>
        </p:nvSpPr>
        <p:spPr>
          <a:xfrm>
            <a:off x="205740" y="4389120"/>
            <a:ext cx="1234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и администратор видят всё, что наблюдатель</a:t>
            </a:r>
            <a:endParaRPr lang="en-US" sz="638" dirty="0"/>
          </a:p>
        </p:txBody>
      </p: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9F2BFF33-84B4-6BD6-36D4-D5FB309FE090}"/>
              </a:ext>
            </a:extLst>
          </p:cNvPr>
          <p:cNvCxnSpPr>
            <a:cxnSpLocks/>
          </p:cNvCxnSpPr>
          <p:nvPr/>
        </p:nvCxnSpPr>
        <p:spPr>
          <a:xfrm>
            <a:off x="411480" y="627534"/>
            <a:ext cx="4741564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EB019CF2-3794-3BA4-1A8B-45DB6B3F5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 lang="en-US" sz="21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«Распределение заявки»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0C8CD2B7-374E-4B69-8973-B9402302CB1A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fld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857250"/>
            <a:ext cx="4320540" cy="3840480"/>
          </a:xfrm>
          <a:prstGeom prst="roundRect">
            <a:avLst>
              <a:gd name="adj" fmla="val 1429"/>
            </a:avLst>
          </a:prstGeom>
          <a:noFill/>
          <a:ln w="12700">
            <a:solidFill>
              <a:srgbClr val="422AA6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6" name="Text 4"/>
          <p:cNvSpPr txBox="1"/>
          <p:nvPr/>
        </p:nvSpPr>
        <p:spPr>
          <a:xfrm>
            <a:off x="1691680" y="86876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Основной сценарий</a:t>
            </a:r>
            <a:endParaRPr lang="en-US" sz="1400" dirty="0">
              <a:latin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82930" y="1268730"/>
            <a:ext cx="401193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375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АИС передаёт заявку с параметрами в отдел по его коду.</a:t>
            </a:r>
            <a:endParaRPr lang="en-US" sz="1000" dirty="0">
              <a:latin typeface="Calibri"/>
            </a:endParaRPr>
          </a:p>
          <a:p>
            <a:pPr marL="257175" indent="-257175">
              <a:spcAft>
                <a:spcPts val="375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Система проверяет параметры по справочнику отдела; ошибка типа — ответ 400 с перечнем полей.</a:t>
            </a:r>
            <a:endParaRPr lang="en-US" sz="1000" dirty="0">
              <a:latin typeface="Calibri"/>
            </a:endParaRPr>
          </a:p>
          <a:p>
            <a:pPr marL="257175" indent="-257175">
              <a:spcAft>
                <a:spcPts val="375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Система вычисляет вес заявки по правилам веса.</a:t>
            </a:r>
            <a:endParaRPr lang="en-US" sz="1000" dirty="0">
              <a:latin typeface="Calibri"/>
            </a:endParaRPr>
          </a:p>
          <a:p>
            <a:pPr marL="257175" indent="-257175">
              <a:spcAft>
                <a:spcPts val="375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Система отбирает активных исполнителей, прошедших все правила отбора.</a:t>
            </a:r>
            <a:endParaRPr lang="en-US" sz="1000" dirty="0">
              <a:latin typeface="Calibri"/>
            </a:endParaRPr>
          </a:p>
          <a:p>
            <a:pPr marL="257175" indent="-257175">
              <a:spcAft>
                <a:spcPts val="375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Система атомарно выбирает исполнителя с наименьшей нагрузкой за час на единицу квалификации и увеличивает его счётчики.</a:t>
            </a:r>
            <a:endParaRPr lang="en-US" sz="1000" dirty="0">
              <a:latin typeface="Calibri"/>
            </a:endParaRPr>
          </a:p>
          <a:p>
            <a:pPr marL="257175" indent="-257175">
              <a:spcAft>
                <a:spcPts val="375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Система одной транзакцией сохраняет назначение, объяснение, сообщение для АИС и метрики.</a:t>
            </a:r>
            <a:endParaRPr lang="en-US" sz="1000" dirty="0">
              <a:latin typeface="Calibri"/>
            </a:endParaRPr>
          </a:p>
          <a:p>
            <a:pPr marL="257175" indent="-257175">
              <a:spcAft>
                <a:spcPts val="375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Система отвечает АИС идентификатором исполнителя и фоном доставляет назначение с повторами.</a:t>
            </a:r>
            <a:endParaRPr lang="en-US" sz="1000" dirty="0">
              <a:latin typeface="Calibri"/>
            </a:endParaRPr>
          </a:p>
          <a:p>
            <a:pPr marL="257175" indent="-257175">
              <a:spcAft>
                <a:spcPts val="375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Руководитель видит заявку в мониторинге и может открыть «почему он».</a:t>
            </a:r>
            <a:endParaRPr lang="en-US" sz="1000" dirty="0"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915520" y="110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 pitchFamily="34" charset="-122"/>
                <a:cs typeface="Calibri" pitchFamily="34" charset="-120"/>
              </a:rPr>
              <a:t>A1. Подходящих нет (</a:t>
            </a:r>
            <a:r>
              <a:rPr lang="en-US" sz="1000" b="1" dirty="0" err="1">
                <a:solidFill>
                  <a:schemeClr val="accent4">
                    <a:lumMod val="75000"/>
                  </a:schemeClr>
                </a:solidFill>
                <a:latin typeface="Calibri"/>
                <a:ea typeface="Calibri" pitchFamily="34" charset="-122"/>
                <a:cs typeface="Calibri" pitchFamily="34" charset="-120"/>
              </a:rPr>
              <a:t>шаг</a:t>
            </a:r>
            <a:r>
              <a:rPr lang="en-US" sz="1000" b="1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 pitchFamily="34" charset="-122"/>
                <a:cs typeface="Calibri" pitchFamily="34" charset="-120"/>
              </a:rPr>
              <a:t> 4-5</a:t>
            </a:r>
            <a:r>
              <a:rPr lang="en-US" sz="975" b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75" dirty="0"/>
          </a:p>
        </p:txBody>
      </p:sp>
      <p:sp>
        <p:nvSpPr>
          <p:cNvPr id="9" name="Text 7"/>
          <p:cNvSpPr txBox="1"/>
          <p:nvPr/>
        </p:nvSpPr>
        <p:spPr>
          <a:xfrm>
            <a:off x="4915520" y="1367143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Заявка получает причину ожидания и повторяется каждые 5 с; освободился исполнитель или сменились правила — уходит.</a:t>
            </a:r>
            <a:endParaRPr lang="en-US" sz="900" dirty="0"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915520" y="1815553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 pitchFamily="34" charset="-122"/>
                <a:cs typeface="Calibri" pitchFamily="34" charset="-120"/>
              </a:rPr>
              <a:t>A2. Повтор той же заявки (шаг 1)</a:t>
            </a:r>
            <a:endParaRPr lang="en-US" sz="10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915520" y="210098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Возвращается прежнее решение, второе назначение не создаётся — даже при одновременных запросах</a:t>
            </a: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915520" y="256988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 pitchFamily="34" charset="-122"/>
                <a:cs typeface="Calibri" pitchFamily="34" charset="-120"/>
              </a:rPr>
              <a:t>A3. Возврат с доработки</a:t>
            </a:r>
            <a:endParaRPr lang="en-US" sz="10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915520" y="2842771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Заявка идёт прежнему исполнителю без учёта в суточной норме; если он ушёл — выбор заново.</a:t>
            </a:r>
            <a:endParaRPr lang="en-US" sz="900" dirty="0"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920190" y="33604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 pitchFamily="34" charset="-122"/>
                <a:cs typeface="Calibri" pitchFamily="34" charset="-120"/>
              </a:rPr>
              <a:t>A4. Исполнитель ушёл или переведён</a:t>
            </a:r>
            <a:endParaRPr lang="en-US" sz="10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915520" y="3598497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Его открытые заявки перераспределяются между коллегами, решение объясняется.</a:t>
            </a:r>
            <a:endParaRPr lang="en-US" sz="900" dirty="0">
              <a:latin typeface="Calibri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927815" y="403237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 pitchFamily="34" charset="-122"/>
                <a:cs typeface="Calibri" pitchFamily="34" charset="-120"/>
              </a:rPr>
              <a:t>A5. Сбой между Redis и базой</a:t>
            </a:r>
            <a:endParaRPr lang="en-US" sz="10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916197" y="4251833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Счётчики откатываются; «зависшая» заявка обнаруживается через минуту и распределяется заново.</a:t>
            </a:r>
            <a:endParaRPr lang="en-US" sz="900" dirty="0">
              <a:latin typeface="Calibri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21A872D-CA94-5573-9B25-0BAFE100016F}"/>
              </a:ext>
            </a:extLst>
          </p:cNvPr>
          <p:cNvCxnSpPr>
            <a:cxnSpLocks/>
          </p:cNvCxnSpPr>
          <p:nvPr/>
        </p:nvCxnSpPr>
        <p:spPr>
          <a:xfrm>
            <a:off x="411480" y="627534"/>
            <a:ext cx="4736584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3E00631-75A5-D3E6-E39C-F4E1BA242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sp>
        <p:nvSpPr>
          <p:cNvPr id="25" name="Shape 3">
            <a:extLst>
              <a:ext uri="{FF2B5EF4-FFF2-40B4-BE49-F238E27FC236}">
                <a16:creationId xmlns:a16="http://schemas.microsoft.com/office/drawing/2014/main" id="{322F0DDC-42F8-51B0-BF83-28C33600F2B4}"/>
              </a:ext>
            </a:extLst>
          </p:cNvPr>
          <p:cNvSpPr/>
          <p:nvPr/>
        </p:nvSpPr>
        <p:spPr>
          <a:xfrm>
            <a:off x="4753451" y="857250"/>
            <a:ext cx="4320540" cy="3840480"/>
          </a:xfrm>
          <a:prstGeom prst="roundRect">
            <a:avLst>
              <a:gd name="adj" fmla="val 1429"/>
            </a:avLst>
          </a:prstGeom>
          <a:noFill/>
          <a:ln w="12700">
            <a:solidFill>
              <a:srgbClr val="422AA6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05407" y="557062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solidFill>
                  <a:srgbClr val="14213D"/>
                </a:solidFill>
                <a:latin typeface="Calibri"/>
                <a:cs typeface="Arial" pitchFamily="34" charset="-120"/>
              </a:rPr>
              <a:t>Алгоритм выбора</a:t>
            </a:r>
            <a:endParaRPr lang="en-US" sz="2400" dirty="0"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853E1FCF-41CF-4569-B964-5892678E1D83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fld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062990"/>
            <a:ext cx="4251960" cy="891540"/>
          </a:xfrm>
          <a:prstGeom prst="roundRect">
            <a:avLst>
              <a:gd name="adj" fmla="val 7692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422AA6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7" name="Text 5"/>
          <p:cNvSpPr txBox="1"/>
          <p:nvPr/>
        </p:nvSpPr>
        <p:spPr>
          <a:xfrm>
            <a:off x="582930" y="1165860"/>
            <a:ext cx="3977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latin typeface="Calibri"/>
                <a:ea typeface="Arial" pitchFamily="34" charset="-122"/>
                <a:cs typeface="Arial" pitchFamily="34" charset="-120"/>
              </a:rPr>
              <a:t>оценка = (вес за час + вес заявки) ÷ квалификация</a:t>
            </a:r>
            <a:endParaRPr lang="en-US" sz="1200" dirty="0"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82930" y="1543050"/>
            <a:ext cx="39776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latin typeface="Calibri"/>
                <a:ea typeface="Calibri" pitchFamily="34" charset="-122"/>
                <a:cs typeface="Calibri" pitchFamily="34" charset="-120"/>
              </a:rPr>
              <a:t>меньше — лучше; при равенстве: открытая нагрузка → заявок за сутки → id</a:t>
            </a:r>
            <a:endParaRPr lang="en-US" sz="1000" dirty="0">
              <a:latin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11480" y="2194560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ea typeface="Arial" pitchFamily="34" charset="-122"/>
                <a:cs typeface="Arial" pitchFamily="34" charset="-120"/>
              </a:rPr>
              <a:t>1</a:t>
            </a:r>
            <a:endParaRPr lang="en-US" sz="1000" dirty="0"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217741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Отбор</a:t>
            </a:r>
            <a:endParaRPr lang="en-US" sz="1000" dirty="0">
              <a:latin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240030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активен и прошёл все правила отдела</a:t>
            </a:r>
            <a:endParaRPr lang="en-US" sz="1000" dirty="0"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11480" y="2811780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ea typeface="Arial" pitchFamily="34" charset="-122"/>
                <a:cs typeface="Arial" pitchFamily="34" charset="-120"/>
              </a:rPr>
              <a:t>2</a:t>
            </a:r>
            <a:endParaRPr lang="en-US" sz="1000" dirty="0"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Ярусы</a:t>
            </a:r>
            <a:endParaRPr lang="en-US" sz="1000" dirty="0"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301752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сначала те, кто не набрал суточную норму; сверх нормы — только добровольцы и только излишки</a:t>
            </a:r>
            <a:endParaRPr lang="en-US" sz="1000" dirty="0">
              <a:latin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11480" y="3429000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ea typeface="Arial" pitchFamily="34" charset="-122"/>
                <a:cs typeface="Arial" pitchFamily="34" charset="-120"/>
              </a:rPr>
              <a:t>3</a:t>
            </a:r>
            <a:endParaRPr lang="en-US" sz="1000" dirty="0">
              <a:latin typeface="Calibri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34152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000" dirty="0"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363474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целые числа в тысячных: C# и Lua считают одинаково, без ошибок округления</a:t>
            </a:r>
            <a:endParaRPr lang="en-US" sz="1000" dirty="0">
              <a:latin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11480" y="4046220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  <a:ea typeface="Arial" pitchFamily="34" charset="-122"/>
                <a:cs typeface="Arial" pitchFamily="34" charset="-120"/>
              </a:rPr>
              <a:t>4</a:t>
            </a:r>
            <a:endParaRPr lang="en-US" sz="1000" dirty="0">
              <a:latin typeface="Calibri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22960" y="40325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Запись</a:t>
            </a:r>
            <a:endParaRPr lang="en-US" sz="1000" dirty="0">
              <a:latin typeface="Calibri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22960" y="425196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в том же скрипте увеличить вес за час, открытую нагрузку и счётчик за сутки</a:t>
            </a:r>
            <a:endParaRPr lang="en-US" sz="1000" dirty="0">
              <a:latin typeface="Calibri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004048" y="1050557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Пример: заявка весом 1</a:t>
            </a:r>
            <a:endParaRPr lang="en-US" sz="1200" dirty="0">
              <a:latin typeface="Calibri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18122"/>
              </p:ext>
            </p:extLst>
          </p:nvPr>
        </p:nvGraphicFramePr>
        <p:xfrm>
          <a:off x="5022964" y="1364097"/>
          <a:ext cx="3771900" cy="1152144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Сотрудник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Квалификация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Получил за час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Оценка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Иванов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(3+1)÷1 = 4,0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Петров</a:t>
                      </a:r>
                      <a:endParaRPr lang="en-US" sz="80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(4+1)÷2 = 2,5</a:t>
                      </a:r>
                      <a:endParaRPr lang="en-US" sz="800" dirty="0">
                        <a:solidFill>
                          <a:srgbClr val="C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Сидорова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(4+1)÷1,5 ≈ 3,3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004048" y="2638115"/>
            <a:ext cx="3771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975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Заявку получает Петров: абсолютно у него больше, </a:t>
            </a:r>
            <a:r>
              <a:rPr lang="ru-RU" sz="975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квалификация </a:t>
            </a:r>
            <a:r>
              <a:rPr lang="ru-RU" sz="975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вдвое выше, поэтому и нагрузка ему положена вдвое больше.</a:t>
            </a:r>
            <a:endParaRPr lang="ru-RU" sz="975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AF9B459-AD6B-CF83-223E-5FB9D4C8A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5AFBC5A3-81DF-E6F8-9D40-CAB8A587489B}"/>
              </a:ext>
            </a:extLst>
          </p:cNvPr>
          <p:cNvCxnSpPr>
            <a:cxnSpLocks/>
          </p:cNvCxnSpPr>
          <p:nvPr/>
        </p:nvCxnSpPr>
        <p:spPr>
          <a:xfrm>
            <a:off x="405407" y="907669"/>
            <a:ext cx="2359183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493777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 err="1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Справедливость</a:t>
            </a:r>
            <a:endParaRPr lang="en-US" sz="2400" dirty="0"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7738AB20-AD81-42A2-A032-35D64FE4A364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fld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028700"/>
            <a:ext cx="37033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Эталон учитывает, кто мог взять заявку: если Иванов умеет кредиты и карты, а Петров только кредиты, справедливо отдать кредиты в основном Петрову. Простая пропорция посчитала бы это перекосом.</a:t>
            </a:r>
            <a:endParaRPr lang="en-US" sz="1200" dirty="0">
              <a:latin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11480" y="2023110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0939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Группы «кто мог взять»</a:t>
            </a:r>
            <a:endParaRPr lang="en-US" sz="1100" dirty="0">
              <a:latin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222885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при каждом назначении пишется набор подходивших сотрудников и вес</a:t>
            </a:r>
            <a:endParaRPr lang="en-US" sz="900" dirty="0"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11480" y="2674620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609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11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Водоналив» по часам</a:t>
            </a:r>
            <a:endParaRPr lang="en-US" sz="1100" dirty="0"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9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вес каждой группы доливается тем, у кого меньше всего на единицу квалификации</a:t>
            </a:r>
            <a:endParaRPr lang="ru-RU" sz="900" noProof="0" dirty="0"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11480" y="3326130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422AA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31241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Честные границы</a:t>
            </a:r>
            <a:endParaRPr lang="en-US" sz="1100" dirty="0">
              <a:latin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353187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учитываются суточные лимиты, обязательные назначения и квалификация на тот час</a:t>
            </a:r>
            <a:endParaRPr lang="en-US" sz="900" dirty="0"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4046220"/>
            <a:ext cx="3703320" cy="651510"/>
          </a:xfrm>
          <a:prstGeom prst="roundRect">
            <a:avLst>
              <a:gd name="adj" fmla="val 8421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422AA6"/>
            </a:solidFill>
            <a:prstDash val="solid"/>
          </a:ln>
        </p:spPr>
        <p:txBody>
          <a:bodyPr/>
          <a:lstStyle/>
          <a:p>
            <a:endParaRPr lang="ru-RU" sz="1350"/>
          </a:p>
        </p:txBody>
      </p:sp>
      <p:sp>
        <p:nvSpPr>
          <p:cNvPr id="17" name="Text 15"/>
          <p:cNvSpPr txBox="1"/>
          <p:nvPr/>
        </p:nvSpPr>
        <p:spPr>
          <a:xfrm>
            <a:off x="548640" y="4101084"/>
            <a:ext cx="1097280" cy="5486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Calibri"/>
                <a:ea typeface="Arial" pitchFamily="34" charset="-122"/>
                <a:cs typeface="Arial" pitchFamily="34" charset="-120"/>
              </a:rPr>
              <a:t>1,6%</a:t>
            </a:r>
            <a:endParaRPr lang="en-US" dirty="0">
              <a:latin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680210" y="4114800"/>
            <a:ext cx="2366010" cy="5486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отклонение на тестовом стенде: 30 сотрудников, 4 000 заявок/ч, через 15 минут потока</a:t>
            </a:r>
            <a:endParaRPr lang="en-US" sz="863" dirty="0"/>
          </a:p>
        </p:txBody>
      </p:sp>
      <p:sp>
        <p:nvSpPr>
          <p:cNvPr id="19" name="Shape 17"/>
          <p:cNvSpPr/>
          <p:nvPr/>
        </p:nvSpPr>
        <p:spPr>
          <a:xfrm>
            <a:off x="4361688" y="1001269"/>
            <a:ext cx="4443984" cy="899702"/>
          </a:xfrm>
          <a:prstGeom prst="roundRect">
            <a:avLst>
              <a:gd name="adj" fmla="val 4574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 sz="1350"/>
          </a:p>
        </p:txBody>
      </p:sp>
      <p:pic>
        <p:nvPicPr>
          <p:cNvPr id="20" name="Image 0" descr="/tmp/claude-0/-home-user-executor-balancer/2f15856a-6efb-592b-8f79-0414baf59965/scratchpad/deck/shots2/an-ti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0" y="1028701"/>
            <a:ext cx="4389120" cy="84483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361688" y="2017557"/>
            <a:ext cx="4443984" cy="2707606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 sz="1350"/>
          </a:p>
        </p:txBody>
      </p:sp>
      <p:pic>
        <p:nvPicPr>
          <p:cNvPr id="22" name="Image 1" descr="/tmp/claude-0/-home-user-executor-balancer/2f15856a-6efb-592b-8f79-0414baf59965/scratchpad/deck/shots2/an-deviation.png"/>
          <p:cNvPicPr>
            <a:picLocks noChangeAspect="1"/>
          </p:cNvPicPr>
          <p:nvPr/>
        </p:nvPicPr>
        <p:blipFill>
          <a:blip r:embed="rId4"/>
          <a:srcRect b="60082"/>
          <a:stretch/>
        </p:blipFill>
        <p:spPr>
          <a:xfrm>
            <a:off x="4389120" y="2044989"/>
            <a:ext cx="4389120" cy="2652742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1B71B18-5410-9F16-8170-07ECEEDD617D}"/>
              </a:ext>
            </a:extLst>
          </p:cNvPr>
          <p:cNvCxnSpPr>
            <a:cxnSpLocks/>
          </p:cNvCxnSpPr>
          <p:nvPr/>
        </p:nvCxnSpPr>
        <p:spPr>
          <a:xfrm>
            <a:off x="411480" y="843558"/>
            <a:ext cx="2157214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5154E05-51A1-76D5-33B6-CBBE53A04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397764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noProof="0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Конструктор</a:t>
            </a:r>
            <a:endParaRPr lang="ru-RU" sz="2400" noProof="0" dirty="0"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91FBC405-F92C-4BED-822C-E0FAF88AF740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fld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84944" y="955960"/>
            <a:ext cx="5061204" cy="2917532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 sz="1350"/>
          </a:p>
        </p:txBody>
      </p:sp>
      <p:pic>
        <p:nvPicPr>
          <p:cNvPr id="7" name="Image 0" descr="/tmp/claude-0/-home-user-executor-balancer/2f15856a-6efb-592b-8f79-0414baf59965/scratchpad/deck/shots2/constructor.png"/>
          <p:cNvPicPr>
            <a:picLocks noChangeAspect="1"/>
          </p:cNvPicPr>
          <p:nvPr/>
        </p:nvPicPr>
        <p:blipFill>
          <a:blip r:embed="rId3"/>
          <a:srcRect l="3000" t="10000" r="3000"/>
          <a:stretch/>
        </p:blipFill>
        <p:spPr>
          <a:xfrm>
            <a:off x="411480" y="955960"/>
            <a:ext cx="5006340" cy="28626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87568" y="102412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100" dirty="0">
              <a:latin typeface="Calibri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687568" y="1252728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строка, число, да/нет, справочник, список — для заявки и для сотрудника</a:t>
            </a:r>
            <a:endParaRPr lang="en-US" sz="1000" dirty="0">
              <a:latin typeface="Calibri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687568" y="181051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Правила отбора</a:t>
            </a:r>
            <a:endParaRPr lang="en-US" sz="1100" dirty="0">
              <a:latin typeface="Calibri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87568" y="2039112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равно, не равно, &gt;, ≥, &lt;, ≤, входит в, не входит в, содержит, между</a:t>
            </a:r>
            <a:endParaRPr lang="en-US" sz="1000" dirty="0">
              <a:latin typeface="Calibri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687568" y="259689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Правила веса</a:t>
            </a:r>
            <a:endParaRPr lang="en-US" sz="1100" dirty="0">
              <a:latin typeface="Calibri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687568" y="282549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«претензия — вес 2», «сумма ≥ 1 млн — вес 3»</a:t>
            </a:r>
            <a:endParaRPr lang="en-US" sz="1000" dirty="0">
              <a:latin typeface="Calibri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5687568" y="316382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Защита от ошибок</a:t>
            </a:r>
            <a:endParaRPr lang="en-US" sz="1100" dirty="0">
              <a:latin typeface="Calibri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5687568" y="3392424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типы проверяются; изменение, ломающее действующие правила, отклоняется</a:t>
            </a:r>
            <a:endParaRPr lang="en-US" sz="1000" dirty="0">
              <a:latin typeface="Calibri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5687568" y="395020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Шаблоны сфер</a:t>
            </a:r>
            <a:endParaRPr lang="en-US" sz="1100" dirty="0">
              <a:latin typeface="Calibri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687568" y="4178808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банк, колл-центр, логистика, интернет-магазин и мастер своей сферы</a:t>
            </a:r>
            <a:endParaRPr lang="en-US" sz="1000" dirty="0">
              <a:latin typeface="Calibri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BF3A4B5-9D6C-1B10-B7ED-2FFA72EA4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B47D53E-A2A2-BDA8-0E0E-29F265E012F7}"/>
              </a:ext>
            </a:extLst>
          </p:cNvPr>
          <p:cNvCxnSpPr>
            <a:cxnSpLocks/>
          </p:cNvCxnSpPr>
          <p:nvPr/>
        </p:nvCxnSpPr>
        <p:spPr>
          <a:xfrm>
            <a:off x="411480" y="771550"/>
            <a:ext cx="1643022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0D4DE9B-D865-BD8A-963F-90CF6D3E2697}"/>
              </a:ext>
            </a:extLst>
          </p:cNvPr>
          <p:cNvSpPr/>
          <p:nvPr/>
        </p:nvSpPr>
        <p:spPr>
          <a:xfrm>
            <a:off x="5577840" y="941832"/>
            <a:ext cx="3300984" cy="3813048"/>
          </a:xfrm>
          <a:prstGeom prst="rect">
            <a:avLst/>
          </a:prstGeom>
          <a:noFill/>
          <a:ln w="12700">
            <a:solidFill>
              <a:srgbClr val="530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397764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solidFill>
                  <a:srgbClr val="14213D"/>
                </a:solidFill>
                <a:latin typeface="Calibri"/>
                <a:cs typeface="Arial" pitchFamily="34" charset="-120"/>
              </a:rPr>
              <a:t>Объяснимое решение</a:t>
            </a:r>
            <a:endParaRPr lang="en-US" sz="2400" dirty="0"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03B314CC-D5D3-48D4-8508-DAAEF6D3A8B9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fld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84048" y="1001269"/>
            <a:ext cx="4238244" cy="3442535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 sz="1350"/>
          </a:p>
        </p:txBody>
      </p:sp>
      <p:pic>
        <p:nvPicPr>
          <p:cNvPr id="7" name="Image 0" descr="/tmp/claude-0/-home-user-executor-balancer/2f15856a-6efb-592b-8f79-0414baf59965/scratchpad/deck/shots2/order-card.png"/>
          <p:cNvPicPr>
            <a:picLocks noChangeAspect="1"/>
          </p:cNvPicPr>
          <p:nvPr/>
        </p:nvPicPr>
        <p:blipFill>
          <a:blip r:embed="rId3"/>
          <a:srcRect l="20500" t="20000" r="20500"/>
          <a:stretch/>
        </p:blipFill>
        <p:spPr>
          <a:xfrm>
            <a:off x="411480" y="1028701"/>
            <a:ext cx="4183380" cy="33876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73168" y="1001268"/>
            <a:ext cx="4032504" cy="2166451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 sz="1350"/>
          </a:p>
        </p:txBody>
      </p:sp>
      <p:pic>
        <p:nvPicPr>
          <p:cNvPr id="9" name="Image 1" descr="/tmp/claude-0/-home-user-executor-balancer/2f15856a-6efb-592b-8f79-0414baf59965/scratchpad/deck/shots2/preview.png"/>
          <p:cNvPicPr>
            <a:picLocks noChangeAspect="1"/>
          </p:cNvPicPr>
          <p:nvPr/>
        </p:nvPicPr>
        <p:blipFill>
          <a:blip r:embed="rId4"/>
          <a:srcRect l="5000" t="20000" r="5000"/>
          <a:stretch/>
        </p:blipFill>
        <p:spPr>
          <a:xfrm>
            <a:off x="4800600" y="1028700"/>
            <a:ext cx="3977640" cy="21115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00600" y="3474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Слева путь заявки: поступила, назначена, доставлена в АИС, и кнопка «Почему он? Кто ещё мог взять</a:t>
            </a: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».</a:t>
            </a:r>
            <a:endParaRPr lang="en-US" sz="1000" dirty="0">
              <a:latin typeface="Calibri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800600" y="4023360"/>
            <a:ext cx="3977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Справа «Проверка заявки»: кому ушла бы заявка с такими параметрами прямо сейчас и какое правило отсеяло остальных. Ничего не назначает.</a:t>
            </a:r>
            <a:endParaRPr lang="ru-RU" sz="1000" noProof="0" dirty="0">
              <a:latin typeface="Calibri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BC95A0C-B0DD-793D-8A5B-0F1ABC4B8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DA1DCB6-F408-3043-3EAF-92B82A4B64A5}"/>
              </a:ext>
            </a:extLst>
          </p:cNvPr>
          <p:cNvCxnSpPr>
            <a:cxnSpLocks/>
          </p:cNvCxnSpPr>
          <p:nvPr/>
        </p:nvCxnSpPr>
        <p:spPr>
          <a:xfrm>
            <a:off x="411480" y="771550"/>
            <a:ext cx="2949912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D0BF04A2-26FF-A38F-F911-19A4F28AEEAA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4800600" y="4663440"/>
            <a:ext cx="3913632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1D664815-667A-C69C-B320-7C848617CC89}"/>
              </a:ext>
            </a:extLst>
          </p:cNvPr>
          <p:cNvCxnSpPr/>
          <p:nvPr/>
        </p:nvCxnSpPr>
        <p:spPr>
          <a:xfrm>
            <a:off x="4800600" y="3931920"/>
            <a:ext cx="3909060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23528" y="410914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noProof="0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Дашборды</a:t>
            </a:r>
            <a:endParaRPr lang="ru-RU" sz="2400" noProof="0" dirty="0"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1606D17A-5800-4672-AFF4-39707F054AE3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fld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84048" y="1001269"/>
            <a:ext cx="5266944" cy="2968946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 sz="1350"/>
          </a:p>
        </p:txBody>
      </p:sp>
      <p:pic>
        <p:nvPicPr>
          <p:cNvPr id="7" name="Image 0" descr="/tmp/claude-0/-home-user-executor-balancer/2f15856a-6efb-592b-8f79-0414baf59965/scratchpad/deck/shots2/overview.png"/>
          <p:cNvPicPr>
            <a:picLocks noChangeAspect="1"/>
          </p:cNvPicPr>
          <p:nvPr/>
        </p:nvPicPr>
        <p:blipFill>
          <a:blip r:embed="rId3"/>
          <a:srcRect l="3000" t="12000" r="3000"/>
          <a:stretch/>
        </p:blipFill>
        <p:spPr>
          <a:xfrm>
            <a:off x="411480" y="1028701"/>
            <a:ext cx="5212080" cy="29140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102870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Мониторинг — каждые 2 с</a:t>
            </a:r>
            <a:endParaRPr lang="en-US" sz="1100" dirty="0">
              <a:latin typeface="Calibri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897880" y="124815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заявки, очередь, нагрузка, отклонение от справедливой доли</a:t>
            </a:r>
            <a:endParaRPr lang="en-US" sz="1000" dirty="0">
              <a:latin typeface="Calibri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897880" y="168021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100" dirty="0">
              <a:latin typeface="Calibri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897880" y="189966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сегодня / 24 ч / 7 / 30 дней: по сотрудникам, рейтинг, динамика</a:t>
            </a:r>
            <a:endParaRPr lang="en-US" sz="1000" dirty="0">
              <a:latin typeface="Calibri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897880" y="233172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>
              <a:latin typeface="Calibri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897880" y="255117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выгрузка CSV с защитой от формул</a:t>
            </a:r>
            <a:endParaRPr lang="en-US" sz="1000" dirty="0">
              <a:latin typeface="Calibri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5897880" y="285220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>
              <a:latin typeface="Calibri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5897880" y="30861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GET /api/integration/metrics?period=today|24h|7d|30d</a:t>
            </a:r>
            <a:endParaRPr lang="en-US" sz="1000" dirty="0">
              <a:latin typeface="Calibri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5897880" y="349103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alibri"/>
                <a:ea typeface="Calibri" pitchFamily="34" charset="-122"/>
                <a:cs typeface="Calibri" pitchFamily="34" charset="-120"/>
              </a:rPr>
              <a:t>Сводные таблицы</a:t>
            </a:r>
            <a:endParaRPr lang="en-US" sz="1100" dirty="0">
              <a:latin typeface="Calibri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897880" y="3737043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метрики </a:t>
            </a:r>
            <a:r>
              <a:rPr lang="en-US" sz="100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часам</a:t>
            </a:r>
            <a:r>
              <a:rPr lang="en-US" sz="100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: отчёт за месяц за доли секунды</a:t>
            </a:r>
            <a:endParaRPr lang="en-US" sz="1000" dirty="0">
              <a:latin typeface="Calibri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7AED666-E90C-3294-8E24-B93E92D71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50E5110-1F54-F9E7-2AA1-834A353DE1ED}"/>
              </a:ext>
            </a:extLst>
          </p:cNvPr>
          <p:cNvCxnSpPr>
            <a:cxnSpLocks/>
          </p:cNvCxnSpPr>
          <p:nvPr/>
        </p:nvCxnSpPr>
        <p:spPr>
          <a:xfrm>
            <a:off x="323528" y="771550"/>
            <a:ext cx="1467346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B9EBC66-6691-80BE-8B3E-975086FAE77B}"/>
              </a:ext>
            </a:extLst>
          </p:cNvPr>
          <p:cNvCxnSpPr/>
          <p:nvPr/>
        </p:nvCxnSpPr>
        <p:spPr>
          <a:xfrm>
            <a:off x="5796136" y="1028700"/>
            <a:ext cx="0" cy="2941514"/>
          </a:xfrm>
          <a:prstGeom prst="line">
            <a:avLst/>
          </a:prstGeom>
          <a:ln w="19050"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Блок-схема: узел 35">
            <a:extLst>
              <a:ext uri="{FF2B5EF4-FFF2-40B4-BE49-F238E27FC236}">
                <a16:creationId xmlns:a16="http://schemas.microsoft.com/office/drawing/2014/main" id="{9ED74B0E-BC47-343F-E58E-C489EFE31B88}"/>
              </a:ext>
            </a:extLst>
          </p:cNvPr>
          <p:cNvSpPr/>
          <p:nvPr/>
        </p:nvSpPr>
        <p:spPr>
          <a:xfrm>
            <a:off x="5723891" y="3514868"/>
            <a:ext cx="121703" cy="127891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Блок-схема: узел 37">
            <a:extLst>
              <a:ext uri="{FF2B5EF4-FFF2-40B4-BE49-F238E27FC236}">
                <a16:creationId xmlns:a16="http://schemas.microsoft.com/office/drawing/2014/main" id="{1F7B3FC2-F9D6-F06F-07CB-510631CE7FA5}"/>
              </a:ext>
            </a:extLst>
          </p:cNvPr>
          <p:cNvSpPr/>
          <p:nvPr/>
        </p:nvSpPr>
        <p:spPr>
          <a:xfrm>
            <a:off x="5723890" y="2852200"/>
            <a:ext cx="121703" cy="127891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Блок-схема: узел 39">
            <a:extLst>
              <a:ext uri="{FF2B5EF4-FFF2-40B4-BE49-F238E27FC236}">
                <a16:creationId xmlns:a16="http://schemas.microsoft.com/office/drawing/2014/main" id="{B40B1E2B-1F4B-B6A7-5C00-571460ED0F14}"/>
              </a:ext>
            </a:extLst>
          </p:cNvPr>
          <p:cNvSpPr/>
          <p:nvPr/>
        </p:nvSpPr>
        <p:spPr>
          <a:xfrm>
            <a:off x="5723892" y="2357851"/>
            <a:ext cx="121703" cy="127891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Блок-схема: узел 41">
            <a:extLst>
              <a:ext uri="{FF2B5EF4-FFF2-40B4-BE49-F238E27FC236}">
                <a16:creationId xmlns:a16="http://schemas.microsoft.com/office/drawing/2014/main" id="{EDFA709A-A005-0DED-CAFC-B6ECD06C199A}"/>
              </a:ext>
            </a:extLst>
          </p:cNvPr>
          <p:cNvSpPr/>
          <p:nvPr/>
        </p:nvSpPr>
        <p:spPr>
          <a:xfrm>
            <a:off x="5723892" y="1705056"/>
            <a:ext cx="121703" cy="127891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Блок-схема: узел 43">
            <a:extLst>
              <a:ext uri="{FF2B5EF4-FFF2-40B4-BE49-F238E27FC236}">
                <a16:creationId xmlns:a16="http://schemas.microsoft.com/office/drawing/2014/main" id="{5630608A-7592-F6C2-F921-53E06A225C73}"/>
              </a:ext>
            </a:extLst>
          </p:cNvPr>
          <p:cNvSpPr/>
          <p:nvPr/>
        </p:nvSpPr>
        <p:spPr>
          <a:xfrm>
            <a:off x="5723890" y="1036432"/>
            <a:ext cx="121703" cy="127891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397764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noProof="0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Производительность и устойчивость</a:t>
            </a:r>
            <a:endParaRPr lang="ru-RU" sz="2400" noProof="0" dirty="0"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31CD16F3-CE13-4012-B383-902602EB0656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fld>
            <a:endParaRPr lang="ru-RU" sz="750" noProof="0" dirty="0"/>
          </a:p>
        </p:txBody>
      </p:sp>
      <p:sp>
        <p:nvSpPr>
          <p:cNvPr id="6" name="Shape 4"/>
          <p:cNvSpPr/>
          <p:nvPr/>
        </p:nvSpPr>
        <p:spPr>
          <a:xfrm>
            <a:off x="411025" y="1028700"/>
            <a:ext cx="1954530" cy="1508760"/>
          </a:xfrm>
          <a:prstGeom prst="roundRect">
            <a:avLst>
              <a:gd name="adj" fmla="val 4545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400" noProof="0" dirty="0">
              <a:latin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4068" y="1131570"/>
            <a:ext cx="171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>
                <a:solidFill>
                  <a:schemeClr val="bg1"/>
                </a:solidFill>
                <a:latin typeface="Calibri"/>
                <a:ea typeface="Arial" pitchFamily="34" charset="-122"/>
                <a:cs typeface="Arial" pitchFamily="34" charset="-120"/>
              </a:rPr>
              <a:t>650/с</a:t>
            </a:r>
            <a:endParaRPr lang="ru-RU" sz="140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4068" y="1291757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заявок в секунду</a:t>
            </a:r>
            <a:endParaRPr lang="ru-RU" sz="1400" noProof="0" dirty="0">
              <a:latin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17839" y="1714821"/>
            <a:ext cx="171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≈2,3 млн/ч при 16 параллельных потоках — в 500+ раз больше 4 000/ч</a:t>
            </a:r>
            <a:endParaRPr lang="ru-RU" sz="1200" noProof="0" dirty="0">
              <a:latin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03170" y="1028700"/>
            <a:ext cx="1954530" cy="1508760"/>
          </a:xfrm>
          <a:prstGeom prst="roundRect">
            <a:avLst>
              <a:gd name="adj" fmla="val 4545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400" noProof="0" dirty="0">
              <a:latin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660904" y="1126477"/>
            <a:ext cx="171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>
                <a:solidFill>
                  <a:schemeClr val="bg1"/>
                </a:solidFill>
                <a:latin typeface="Calibri"/>
                <a:ea typeface="Arial" pitchFamily="34" charset="-122"/>
                <a:cs typeface="Arial" pitchFamily="34" charset="-120"/>
              </a:rPr>
              <a:t>23 мс</a:t>
            </a:r>
            <a:endParaRPr lang="ru-RU" sz="140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651758" y="1291757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медиана выбора</a:t>
            </a:r>
            <a:endParaRPr lang="ru-RU" sz="1400" noProof="0" dirty="0"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660372" y="1673352"/>
            <a:ext cx="171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приём → выбор → транзакция в </a:t>
            </a:r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PostgreSQL</a:t>
            </a:r>
            <a:endParaRPr lang="ru-RU" sz="1200" noProof="0" dirty="0">
              <a:latin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36008" y="1028700"/>
            <a:ext cx="1954530" cy="1508760"/>
          </a:xfrm>
          <a:prstGeom prst="roundRect">
            <a:avLst>
              <a:gd name="adj" fmla="val 4545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400" noProof="0" dirty="0">
              <a:latin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756023" y="1131570"/>
            <a:ext cx="171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>
                <a:solidFill>
                  <a:schemeClr val="bg1"/>
                </a:solidFill>
                <a:latin typeface="Calibri"/>
                <a:ea typeface="Arial" pitchFamily="34" charset="-122"/>
                <a:cs typeface="Arial" pitchFamily="34" charset="-120"/>
              </a:rPr>
              <a:t>0</a:t>
            </a:r>
            <a:endParaRPr lang="ru-RU" sz="140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756023" y="1320165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noProof="0" dirty="0">
                <a:latin typeface="Calibri"/>
                <a:ea typeface="Calibri" pitchFamily="34" charset="-122"/>
                <a:cs typeface="Calibri" pitchFamily="34" charset="-120"/>
              </a:rPr>
              <a:t>двойных назначений</a:t>
            </a:r>
            <a:endParaRPr lang="ru-RU" sz="1400" noProof="0" dirty="0"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756023" y="1645920"/>
            <a:ext cx="171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>
                <a:latin typeface="Calibri"/>
                <a:ea typeface="Calibri" pitchFamily="34" charset="-122"/>
                <a:cs typeface="Calibri" pitchFamily="34" charset="-120"/>
              </a:rPr>
              <a:t>4 000 заявок, каждая дважды из 8 потоков — на живом </a:t>
            </a:r>
            <a:r>
              <a:rPr lang="ru-RU" sz="1200" noProof="0" dirty="0" err="1">
                <a:latin typeface="Calibri"/>
                <a:ea typeface="Calibri" pitchFamily="34" charset="-122"/>
                <a:cs typeface="Calibri" pitchFamily="34" charset="-120"/>
              </a:rPr>
              <a:t>Redis</a:t>
            </a:r>
            <a:endParaRPr lang="ru-RU" sz="1200" noProof="0" dirty="0">
              <a:latin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48272" y="1028700"/>
            <a:ext cx="1954530" cy="1508760"/>
          </a:xfrm>
          <a:prstGeom prst="roundRect">
            <a:avLst>
              <a:gd name="adj" fmla="val 4545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ru-RU" sz="1400" noProof="0" dirty="0">
              <a:latin typeface="Calibri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885432" y="1131570"/>
            <a:ext cx="171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>
                <a:solidFill>
                  <a:schemeClr val="bg1"/>
                </a:solidFill>
                <a:latin typeface="Calibri"/>
                <a:ea typeface="Arial" pitchFamily="34" charset="-122"/>
                <a:cs typeface="Arial" pitchFamily="34" charset="-120"/>
              </a:rPr>
              <a:t>147</a:t>
            </a:r>
            <a:endParaRPr lang="ru-RU" sz="1400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861913" y="1320165"/>
            <a:ext cx="174716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noProof="0" dirty="0" err="1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автотестов</a:t>
            </a:r>
            <a:endParaRPr lang="ru-RU" sz="1400" noProof="0" dirty="0">
              <a:latin typeface="Calibri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861913" y="1673352"/>
            <a:ext cx="1714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правила, справедливость, роли</a:t>
            </a:r>
            <a:endParaRPr lang="ru-RU" sz="1200" noProof="0" dirty="0">
              <a:latin typeface="Calibri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11480" y="277749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Параллельные запросы:</a:t>
            </a:r>
            <a:endParaRPr lang="ru-RU" sz="1400" noProof="0" dirty="0">
              <a:latin typeface="Calibri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2468880" y="2777490"/>
            <a:ext cx="6309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выбор и счётчики — один </a:t>
            </a:r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Lua</a:t>
            </a:r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-скрипт; ключи с общим </a:t>
            </a:r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hash</a:t>
            </a:r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tag</a:t>
            </a:r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 {</a:t>
            </a:r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eb</a:t>
            </a:r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} — работает и в </a:t>
            </a:r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Redis</a:t>
            </a:r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 Cluster</a:t>
            </a:r>
            <a:endParaRPr lang="ru-RU" sz="1200" noProof="0" dirty="0">
              <a:latin typeface="Calibri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11480" y="3161538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Повторы из АИС:</a:t>
            </a:r>
            <a:endParaRPr lang="ru-RU" sz="1400" noProof="0" dirty="0">
              <a:latin typeface="Calibri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2468880" y="3161538"/>
            <a:ext cx="6309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уникальный номер заявки: повтор возвращает прежнее решение</a:t>
            </a:r>
            <a:endParaRPr lang="ru-RU" sz="1200" noProof="0" dirty="0">
              <a:latin typeface="Calibri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11480" y="3545586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АИС недоступна:</a:t>
            </a:r>
            <a:endParaRPr lang="ru-RU" sz="1400" noProof="0" dirty="0">
              <a:latin typeface="Calibri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2468880" y="3545586"/>
            <a:ext cx="6309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outbox</a:t>
            </a:r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: доставка с повторами 2…300 с, несколько экземпляров не шлют одно сообщение дважды</a:t>
            </a:r>
            <a:endParaRPr lang="ru-RU" sz="1200" noProof="0" dirty="0">
              <a:latin typeface="Calibri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11480" y="3929634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Падение посередине:</a:t>
            </a:r>
            <a:endParaRPr lang="ru-RU" sz="1400" noProof="0" dirty="0">
              <a:latin typeface="Calibri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2468880" y="3929634"/>
            <a:ext cx="6309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откат счётчиков; «зависшая» в </a:t>
            </a:r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Redis</a:t>
            </a:r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 заявка распределяется заново</a:t>
            </a:r>
            <a:endParaRPr lang="ru-RU" sz="1200" noProof="0" dirty="0">
              <a:latin typeface="Calibri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11480" y="4313682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noProof="0" dirty="0" err="1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Redis</a:t>
            </a:r>
            <a:r>
              <a:rPr lang="ru-RU" sz="14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 потерял данные:</a:t>
            </a:r>
            <a:endParaRPr lang="ru-RU" sz="1400" noProof="0" dirty="0">
              <a:latin typeface="Calibri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468880" y="4313682"/>
            <a:ext cx="6309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нагрузка восстанавливается из </a:t>
            </a:r>
            <a:r>
              <a:rPr lang="ru-RU" sz="1200" noProof="0" dirty="0" err="1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PostgreSQL</a:t>
            </a:r>
            <a:r>
              <a:rPr lang="ru-RU" sz="12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 при старте, одним экземпляром под блокировкой</a:t>
            </a:r>
            <a:endParaRPr lang="ru-RU" sz="1200" noProof="0" dirty="0">
              <a:latin typeface="Calibri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2A5D8721-D98F-A3B8-4E61-43C42A41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0D899A92-6943-9831-CF59-E0B68722B98E}"/>
              </a:ext>
            </a:extLst>
          </p:cNvPr>
          <p:cNvCxnSpPr>
            <a:cxnSpLocks/>
          </p:cNvCxnSpPr>
          <p:nvPr/>
        </p:nvCxnSpPr>
        <p:spPr>
          <a:xfrm>
            <a:off x="411480" y="771550"/>
            <a:ext cx="4842053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397764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noProof="0" dirty="0">
                <a:solidFill>
                  <a:srgbClr val="14213D"/>
                </a:solidFill>
                <a:latin typeface="Calibri"/>
                <a:ea typeface="Arial" pitchFamily="34" charset="-122"/>
                <a:cs typeface="Arial" pitchFamily="34" charset="-120"/>
              </a:rPr>
              <a:t>Защищённый сайт</a:t>
            </a:r>
            <a:endParaRPr lang="ru-RU" sz="2400" noProof="0" dirty="0"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CFE95BF8-7272-41B2-A420-4B6D97F4820F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fld>
            <a:endParaRPr lang="ru-RU" sz="750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028700"/>
            <a:ext cx="2640330" cy="1645920"/>
          </a:xfrm>
          <a:prstGeom prst="roundRect">
            <a:avLst>
              <a:gd name="adj" fmla="val 4167"/>
            </a:avLst>
          </a:prstGeom>
          <a:solidFill>
            <a:srgbClr val="F6F8FA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7" name="Shape 5"/>
          <p:cNvSpPr/>
          <p:nvPr/>
        </p:nvSpPr>
        <p:spPr>
          <a:xfrm>
            <a:off x="582930" y="1200150"/>
            <a:ext cx="342900" cy="3429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582930" y="1200150"/>
            <a:ext cx="342900" cy="342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ru-RU" sz="105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noProof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и роли</a:t>
            </a:r>
            <a:endParaRPr lang="ru-RU" sz="12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582930" y="1680210"/>
            <a:ext cx="229743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наблюдатель, руководитель, администратор; доступ по отделам; PBKDF2 600 000 итераций; блокировка закрывает сессии сразу</a:t>
            </a:r>
            <a:endParaRPr lang="ru-RU" sz="938" noProof="0" dirty="0"/>
          </a:p>
        </p:txBody>
      </p:sp>
      <p:sp>
        <p:nvSpPr>
          <p:cNvPr id="11" name="Shape 9"/>
          <p:cNvSpPr/>
          <p:nvPr/>
        </p:nvSpPr>
        <p:spPr>
          <a:xfrm>
            <a:off x="3236976" y="1028700"/>
            <a:ext cx="2640330" cy="1645920"/>
          </a:xfrm>
          <a:prstGeom prst="roundRect">
            <a:avLst>
              <a:gd name="adj" fmla="val 4167"/>
            </a:avLst>
          </a:prstGeom>
          <a:solidFill>
            <a:srgbClr val="F6F8FA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12" name="Shape 10"/>
          <p:cNvSpPr/>
          <p:nvPr/>
        </p:nvSpPr>
        <p:spPr>
          <a:xfrm>
            <a:off x="3408426" y="1200150"/>
            <a:ext cx="342900" cy="3429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3408426" y="1200150"/>
            <a:ext cx="342900" cy="342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ru-RU" sz="105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3854196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noProof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ru-RU" sz="12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3408426" y="1680210"/>
            <a:ext cx="229743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API ≥ 24 символов, сравнение за постоянное время; лимит частоты; тело ≤ 256 КБ</a:t>
            </a:r>
            <a:endParaRPr lang="ru-RU" sz="938" noProof="0" dirty="0"/>
          </a:p>
        </p:txBody>
      </p:sp>
      <p:sp>
        <p:nvSpPr>
          <p:cNvPr id="16" name="Shape 14"/>
          <p:cNvSpPr/>
          <p:nvPr/>
        </p:nvSpPr>
        <p:spPr>
          <a:xfrm>
            <a:off x="6062472" y="1028700"/>
            <a:ext cx="2640330" cy="1645920"/>
          </a:xfrm>
          <a:prstGeom prst="roundRect">
            <a:avLst>
              <a:gd name="adj" fmla="val 4167"/>
            </a:avLst>
          </a:prstGeom>
          <a:solidFill>
            <a:srgbClr val="F6F8FA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17" name="Shape 15"/>
          <p:cNvSpPr/>
          <p:nvPr/>
        </p:nvSpPr>
        <p:spPr>
          <a:xfrm>
            <a:off x="6233922" y="1200150"/>
            <a:ext cx="342900" cy="3429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6233922" y="1200150"/>
            <a:ext cx="342900" cy="342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105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6679692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noProof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ru-RU" sz="1200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6233922" y="1680210"/>
            <a:ext cx="229743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CSP без </a:t>
            </a:r>
            <a:r>
              <a:rPr lang="ru-RU" sz="938" noProof="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-скриптов и CDN; данные только через </a:t>
            </a:r>
            <a:r>
              <a:rPr lang="ru-RU" sz="938" noProof="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</a:t>
            </a:r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защита от CSRF и </a:t>
            </a:r>
            <a:r>
              <a:rPr lang="ru-RU" sz="938" noProof="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кликджекинга</a:t>
            </a:r>
            <a:endParaRPr lang="ru-RU" sz="938" noProof="0" dirty="0"/>
          </a:p>
        </p:txBody>
      </p:sp>
      <p:sp>
        <p:nvSpPr>
          <p:cNvPr id="21" name="Shape 19"/>
          <p:cNvSpPr/>
          <p:nvPr/>
        </p:nvSpPr>
        <p:spPr>
          <a:xfrm>
            <a:off x="411480" y="2846070"/>
            <a:ext cx="2640330" cy="1645920"/>
          </a:xfrm>
          <a:prstGeom prst="roundRect">
            <a:avLst>
              <a:gd name="adj" fmla="val 4167"/>
            </a:avLst>
          </a:prstGeom>
          <a:solidFill>
            <a:srgbClr val="F6F8FA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22" name="Shape 20"/>
          <p:cNvSpPr/>
          <p:nvPr/>
        </p:nvSpPr>
        <p:spPr>
          <a:xfrm>
            <a:off x="582930" y="3017520"/>
            <a:ext cx="342900" cy="3429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582930" y="3017520"/>
            <a:ext cx="342900" cy="342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ru-RU" sz="1050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1028700" y="305181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noProof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</a:t>
            </a:r>
            <a:endParaRPr lang="ru-RU" sz="12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582930" y="3497580"/>
            <a:ext cx="229743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никакого </a:t>
            </a:r>
            <a:r>
              <a:rPr lang="ru-RU" sz="938" noProof="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операторы из белого списка, проверка типов; выгрузка экранирует формулы Excel</a:t>
            </a:r>
            <a:endParaRPr lang="ru-RU" sz="938" noProof="0" dirty="0"/>
          </a:p>
        </p:txBody>
      </p:sp>
      <p:sp>
        <p:nvSpPr>
          <p:cNvPr id="26" name="Shape 24"/>
          <p:cNvSpPr/>
          <p:nvPr/>
        </p:nvSpPr>
        <p:spPr>
          <a:xfrm>
            <a:off x="3236976" y="2846070"/>
            <a:ext cx="2640330" cy="1645920"/>
          </a:xfrm>
          <a:prstGeom prst="roundRect">
            <a:avLst>
              <a:gd name="adj" fmla="val 4167"/>
            </a:avLst>
          </a:prstGeom>
          <a:solidFill>
            <a:srgbClr val="F6F8FA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27" name="Shape 25"/>
          <p:cNvSpPr/>
          <p:nvPr/>
        </p:nvSpPr>
        <p:spPr>
          <a:xfrm>
            <a:off x="3408426" y="3017520"/>
            <a:ext cx="342900" cy="3429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3408426" y="3017520"/>
            <a:ext cx="342900" cy="342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ru-RU" sz="105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3854196" y="305181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noProof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ru-RU" sz="1200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3408426" y="3497580"/>
            <a:ext cx="229743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только из окружения; контейнер не </a:t>
            </a:r>
            <a:r>
              <a:rPr lang="ru-RU" sz="938" noProof="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файловая система только для чтения; наружу только API</a:t>
            </a:r>
            <a:endParaRPr lang="ru-RU" sz="938" noProof="0" dirty="0"/>
          </a:p>
        </p:txBody>
      </p:sp>
      <p:sp>
        <p:nvSpPr>
          <p:cNvPr id="31" name="Shape 29"/>
          <p:cNvSpPr/>
          <p:nvPr/>
        </p:nvSpPr>
        <p:spPr>
          <a:xfrm>
            <a:off x="6062472" y="2846070"/>
            <a:ext cx="2640330" cy="1645920"/>
          </a:xfrm>
          <a:prstGeom prst="roundRect">
            <a:avLst>
              <a:gd name="adj" fmla="val 4167"/>
            </a:avLst>
          </a:prstGeom>
          <a:solidFill>
            <a:srgbClr val="F6F8FA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32" name="Shape 30"/>
          <p:cNvSpPr/>
          <p:nvPr/>
        </p:nvSpPr>
        <p:spPr>
          <a:xfrm>
            <a:off x="6233922" y="3017520"/>
            <a:ext cx="342900" cy="3429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ru-RU" sz="1350" noProof="0" dirty="0"/>
          </a:p>
        </p:txBody>
      </p:sp>
      <p:sp>
        <p:nvSpPr>
          <p:cNvPr id="33" name="Text 31"/>
          <p:cNvSpPr txBox="1"/>
          <p:nvPr/>
        </p:nvSpPr>
        <p:spPr>
          <a:xfrm>
            <a:off x="6233922" y="3017520"/>
            <a:ext cx="342900" cy="342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ru-RU" sz="1050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6679692" y="305181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noProof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</a:t>
            </a:r>
            <a:endParaRPr lang="ru-RU" sz="1200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6233922" y="3497580"/>
            <a:ext cx="229743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938" noProof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настроек, вход и управление пользователями — с автором и временем</a:t>
            </a:r>
            <a:endParaRPr lang="ru-RU" sz="938" noProof="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00200B6-29D9-D456-FD00-4AF5894B4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F55F6C77-A32C-98E1-3DC5-BB992CBD4023}"/>
              </a:ext>
            </a:extLst>
          </p:cNvPr>
          <p:cNvCxnSpPr>
            <a:cxnSpLocks/>
          </p:cNvCxnSpPr>
          <p:nvPr/>
        </p:nvCxnSpPr>
        <p:spPr>
          <a:xfrm>
            <a:off x="411480" y="771550"/>
            <a:ext cx="2453520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480" y="397764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noProof="0" dirty="0">
                <a:latin typeface="Calibri"/>
              </a:rPr>
              <a:t>Дополнительные возможности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2DA93473-3003-42F7-B2BA-56FDCAEC4BC1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fld>
            <a:endParaRPr lang="ru-RU" sz="75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042416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975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ru-RU" sz="975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0287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b="1" noProof="0" dirty="0">
                <a:latin typeface="Calibri"/>
                <a:ea typeface="Calibri" pitchFamily="34" charset="-122"/>
                <a:cs typeface="Calibri" pitchFamily="34" charset="-120"/>
              </a:rPr>
              <a:t>Отделы</a:t>
            </a:r>
            <a:endParaRPr lang="ru-RU" sz="1100" noProof="0" dirty="0"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1261872"/>
            <a:ext cx="3154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несколько сфер одновременно: свои параметры, правила, сотрудники и статистика</a:t>
            </a:r>
            <a:endParaRPr lang="ru-RU" sz="1000" noProof="0" dirty="0">
              <a:latin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11480" y="1762506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975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ru-RU" sz="975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74879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Мотивация</a:t>
            </a:r>
            <a:endParaRPr lang="ru-RU" sz="1100" noProof="0" dirty="0">
              <a:latin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1981962"/>
            <a:ext cx="3154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рейтинг: балл = вес × качество; режим «больше нормы» для добровольцев; защита от работы на количество</a:t>
            </a:r>
            <a:endParaRPr lang="ru-RU" sz="1000" noProof="0" dirty="0"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11480" y="2482596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975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975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6888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ИИ-разбор заявок</a:t>
            </a:r>
            <a:endParaRPr lang="ru-RU" sz="1100" noProof="0" dirty="0"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2702052"/>
            <a:ext cx="3154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сервер находит проблемы с цифрами, ИИ объясняет «почему» и предлагает действия</a:t>
            </a:r>
            <a:endParaRPr lang="ru-RU" sz="1000" noProof="0" dirty="0">
              <a:latin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11480" y="3202686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975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ru-RU" sz="975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18897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Импорт из CSV</a:t>
            </a:r>
            <a:endParaRPr lang="ru-RU" sz="1100" noProof="0" dirty="0"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3422142"/>
            <a:ext cx="3154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загрузить сотрудников файлом с предпросмотром ошибок</a:t>
            </a:r>
            <a:endParaRPr lang="ru-RU" sz="1000" noProof="0" dirty="0">
              <a:latin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11480" y="3922776"/>
            <a:ext cx="288036" cy="2880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ru-RU" sz="975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ru-RU" sz="975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9090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b="1" noProof="0" dirty="0">
                <a:solidFill>
                  <a:srgbClr val="14213D"/>
                </a:solidFill>
                <a:latin typeface="Calibri"/>
                <a:ea typeface="Calibri" pitchFamily="34" charset="-122"/>
                <a:cs typeface="Calibri" pitchFamily="34" charset="-120"/>
              </a:rPr>
              <a:t>Тестовый стенд</a:t>
            </a:r>
            <a:endParaRPr lang="ru-RU" sz="1100" noProof="0" dirty="0">
              <a:latin typeface="Calibri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22960" y="4142232"/>
            <a:ext cx="3154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noProof="0" dirty="0">
                <a:solidFill>
                  <a:srgbClr val="2D3748"/>
                </a:solidFill>
                <a:latin typeface="Calibri"/>
                <a:ea typeface="Calibri" pitchFamily="34" charset="-122"/>
                <a:cs typeface="Calibri" pitchFamily="34" charset="-120"/>
              </a:rPr>
              <a:t>эмулятор АИС: поток заявок, работа сотрудников, доработки</a:t>
            </a:r>
            <a:endParaRPr lang="ru-RU" sz="1000" noProof="0" dirty="0"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24528" y="1001268"/>
            <a:ext cx="4581144" cy="1803654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 sz="1350" noProof="0" dirty="0"/>
          </a:p>
        </p:txBody>
      </p:sp>
      <p:pic>
        <p:nvPicPr>
          <p:cNvPr id="22" name="Image 0" descr="/tmp/claude-0/-home-user-executor-balancer/2f15856a-6efb-592b-8f79-0414baf59965/scratchpad/deck/shots2/insights.png"/>
          <p:cNvPicPr>
            <a:picLocks noChangeAspect="1"/>
          </p:cNvPicPr>
          <p:nvPr/>
        </p:nvPicPr>
        <p:blipFill>
          <a:blip r:embed="rId3"/>
          <a:srcRect l="3000" t="12000" r="3000" b="27188"/>
          <a:stretch/>
        </p:blipFill>
        <p:spPr>
          <a:xfrm>
            <a:off x="4251960" y="1028700"/>
            <a:ext cx="4526280" cy="174879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224528" y="2921508"/>
            <a:ext cx="4581144" cy="1803654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 sz="1350" noProof="0" dirty="0"/>
          </a:p>
        </p:txBody>
      </p:sp>
      <p:pic>
        <p:nvPicPr>
          <p:cNvPr id="24" name="Image 1" descr="/tmp/claude-0/-home-user-executor-balancer/2f15856a-6efb-592b-8f79-0414baf59965/scratchpad/deck/shots2/motivation.png"/>
          <p:cNvPicPr>
            <a:picLocks noChangeAspect="1"/>
          </p:cNvPicPr>
          <p:nvPr/>
        </p:nvPicPr>
        <p:blipFill>
          <a:blip r:embed="rId4"/>
          <a:srcRect l="3000" t="12000" r="3000" b="27188"/>
          <a:stretch/>
        </p:blipFill>
        <p:spPr>
          <a:xfrm>
            <a:off x="4251960" y="2948940"/>
            <a:ext cx="4526280" cy="174879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98F6A09-F5E5-FE28-76C1-34081DC8B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898BF98-5F35-8881-6FCF-794BD334A630}"/>
              </a:ext>
            </a:extLst>
          </p:cNvPr>
          <p:cNvCxnSpPr>
            <a:cxnSpLocks/>
          </p:cNvCxnSpPr>
          <p:nvPr/>
        </p:nvCxnSpPr>
        <p:spPr>
          <a:xfrm>
            <a:off x="411480" y="771550"/>
            <a:ext cx="4168874" cy="0"/>
          </a:xfrm>
          <a:prstGeom prst="line">
            <a:avLst/>
          </a:prstGeom>
          <a:ln>
            <a:solidFill>
              <a:srgbClr val="530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38210" y="4834890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fld id="{24A17B99-89B2-4D0E-ABA8-7A4A5739DFD8}" type="slidenum">
              <a:rPr lang="ru-RU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fld>
            <a:endParaRPr lang="en-US" sz="75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064FA25-0EEF-0C66-0D81-0474EE2B5020}"/>
              </a:ext>
            </a:extLst>
          </p:cNvPr>
          <p:cNvSpPr/>
          <p:nvPr/>
        </p:nvSpPr>
        <p:spPr>
          <a:xfrm>
            <a:off x="2703550" y="282302"/>
            <a:ext cx="3312368" cy="576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58052B-DD0A-616D-5D15-A1B4B332024D}"/>
              </a:ext>
            </a:extLst>
          </p:cNvPr>
          <p:cNvSpPr txBox="1"/>
          <p:nvPr/>
        </p:nvSpPr>
        <p:spPr>
          <a:xfrm>
            <a:off x="2771800" y="339502"/>
            <a:ext cx="317586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Спасибо 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18383C7-B333-C72F-1B13-5190D69DE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21" y="6949"/>
            <a:ext cx="985879" cy="90072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B47896D-B1E9-B1DA-7884-9216A66E5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461" y="1079634"/>
            <a:ext cx="3086501" cy="385812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CB65DA4-4C1F-1580-7F6D-136D960BE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048" y="1079634"/>
            <a:ext cx="3085082" cy="3858126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</TotalTime>
  <Words>2231</Words>
  <Application>Microsoft Office PowerPoint</Application>
  <PresentationFormat>Экран (16:9)</PresentationFormat>
  <Paragraphs>400</Paragraphs>
  <Slides>21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Montserrat</vt:lpstr>
      <vt:lpstr>OpenSans</vt:lpstr>
      <vt:lpstr>Roboto</vt:lpstr>
      <vt:lpstr>Roboto Light</vt:lpstr>
      <vt:lpstr>Wingdings</vt:lpstr>
      <vt:lpstr>Тема Office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Mila Golovchenko</dc:creator>
  <cp:lastModifiedBy>Ринат Мухтасаров</cp:lastModifiedBy>
  <cp:revision>177</cp:revision>
  <dcterms:created xsi:type="dcterms:W3CDTF">2016-02-04T14:29:49Z</dcterms:created>
  <dcterms:modified xsi:type="dcterms:W3CDTF">2026-09-28T18:21:40Z</dcterms:modified>
</cp:coreProperties>
</file>